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256" r:id="rId2"/>
    <p:sldId id="291" r:id="rId3"/>
    <p:sldId id="346" r:id="rId4"/>
    <p:sldId id="347" r:id="rId5"/>
    <p:sldId id="349" r:id="rId6"/>
    <p:sldId id="350" r:id="rId7"/>
    <p:sldId id="348" r:id="rId8"/>
    <p:sldId id="331" r:id="rId9"/>
    <p:sldId id="351" r:id="rId10"/>
    <p:sldId id="355" r:id="rId11"/>
    <p:sldId id="352" r:id="rId12"/>
    <p:sldId id="354" r:id="rId13"/>
    <p:sldId id="353" r:id="rId14"/>
    <p:sldId id="356" r:id="rId15"/>
    <p:sldId id="357" r:id="rId16"/>
    <p:sldId id="358" r:id="rId17"/>
    <p:sldId id="359" r:id="rId18"/>
    <p:sldId id="333" r:id="rId19"/>
    <p:sldId id="323" r:id="rId20"/>
    <p:sldId id="345" r:id="rId21"/>
    <p:sldId id="360" r:id="rId22"/>
    <p:sldId id="361" r:id="rId23"/>
    <p:sldId id="337" r:id="rId24"/>
    <p:sldId id="309" r:id="rId25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>
        <p15:guide id="1" orient="horz" pos="1572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Ênfas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Estilo Claro 1 - Ênfas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012ECD-51FC-41F1-AA8D-1B2483CD663E}" styleName="Estilo Claro 2 - Ênfas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Estilo Claro 2 - Ênfase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147" autoAdjust="0"/>
    <p:restoredTop sz="83649" autoAdjust="0"/>
  </p:normalViewPr>
  <p:slideViewPr>
    <p:cSldViewPr snapToGrid="0">
      <p:cViewPr varScale="1">
        <p:scale>
          <a:sx n="71" d="100"/>
          <a:sy n="71" d="100"/>
        </p:scale>
        <p:origin x="678" y="66"/>
      </p:cViewPr>
      <p:guideLst>
        <p:guide orient="horz" pos="1572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4494"/>
    </p:cViewPr>
  </p:sorterViewPr>
  <p:notesViewPr>
    <p:cSldViewPr snapToGrid="0"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0" name="Shape 11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6252599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973974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8490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076224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32448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671264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263715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357535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680857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728990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058623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967628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913273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79861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810236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398955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301198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853043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095695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635160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63472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6896045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0351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85802" y="1597820"/>
            <a:ext cx="7772400" cy="1102519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2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2" cy="1021556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t>Texto do Título</a:t>
            </a:r>
          </a:p>
        </p:txBody>
      </p:sp>
      <p:sp>
        <p:nvSpPr>
          <p:cNvPr id="30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722313" y="2180035"/>
            <a:ext cx="7772402" cy="112514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31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39" name="Nível de Corpo Um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457201" y="1200151"/>
            <a:ext cx="4038601" cy="3394472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40" indent="-320040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48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  <a:lvl2pPr marL="0" indent="0">
              <a:spcBef>
                <a:spcPts val="500"/>
              </a:spcBef>
              <a:buSzTx/>
              <a:buFontTx/>
              <a:buNone/>
              <a:defRPr sz="2400" b="1"/>
            </a:lvl2pPr>
            <a:lvl3pPr marL="0" indent="0">
              <a:spcBef>
                <a:spcPts val="500"/>
              </a:spcBef>
              <a:buSzTx/>
              <a:buFontTx/>
              <a:buNone/>
              <a:defRPr sz="2400" b="1"/>
            </a:lvl3pPr>
            <a:lvl4pPr marL="0" indent="0">
              <a:spcBef>
                <a:spcPts val="500"/>
              </a:spcBef>
              <a:buSzTx/>
              <a:buFontTx/>
              <a:buNone/>
              <a:defRPr sz="2400" b="1"/>
            </a:lvl4pPr>
            <a:lvl5pPr marL="0" indent="0">
              <a:spcBef>
                <a:spcPts val="500"/>
              </a:spcBef>
              <a:buSzTx/>
              <a:buFontTx/>
              <a:buNone/>
              <a:defRPr sz="2400" b="1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645028" y="1151334"/>
            <a:ext cx="4041774" cy="479824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5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457203" y="204787"/>
            <a:ext cx="3008315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73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3575052" y="204789"/>
            <a:ext cx="5111749" cy="438983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half" idx="13"/>
          </p:nvPr>
        </p:nvSpPr>
        <p:spPr>
          <a:xfrm>
            <a:off x="457198" y="1076326"/>
            <a:ext cx="3008316" cy="3518297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1792289" y="3600450"/>
            <a:ext cx="5486402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13"/>
          </p:nvPr>
        </p:nvSpPr>
        <p:spPr>
          <a:xfrm>
            <a:off x="1792289" y="459581"/>
            <a:ext cx="5486402" cy="3086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792289" y="4025503"/>
            <a:ext cx="5486402" cy="60364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8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93" name="Nível de Corpo Um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94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629399" y="205980"/>
            <a:ext cx="2057401" cy="4388645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02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457200" y="205980"/>
            <a:ext cx="6019801" cy="438864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0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o Título"/>
          <p:cNvSpPr txBox="1"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rmAutofit/>
          </a:bodyPr>
          <a:lstStyle/>
          <a:p>
            <a:r>
              <a:t>Texto do Título</a:t>
            </a:r>
          </a:p>
        </p:txBody>
      </p:sp>
      <p:sp>
        <p:nvSpPr>
          <p:cNvPr id="3" name="Nível de Corpo Um…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>
            <a:normAutofit/>
          </a:bodyPr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8342803" y="4765688"/>
            <a:ext cx="344000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rPr/>
              <a:t>‹nº›</a:t>
            </a:fld>
            <a:endParaRPr/>
          </a:p>
        </p:txBody>
      </p:sp>
      <p:pic>
        <p:nvPicPr>
          <p:cNvPr id="5" name="Picture 5" descr="Picture 5"/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" name="Picture 6" descr="Picture 6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6649752" y="4972050"/>
            <a:ext cx="2494252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7" name="Imagem" descr="Imagem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51528" y="4341020"/>
            <a:ext cx="1690697" cy="54544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590" marR="0" indent="-32639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»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dureka.co/microsoft-azure-data-engineering-certification-cours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park.apache.org/docs/latest/api/python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insights.stackoverflow.com/survey/2021#most-popular-technologies-language" TargetMode="External"/><Relationship Id="rId4" Type="http://schemas.openxmlformats.org/officeDocument/2006/relationships/hyperlink" Target="https://spark.apache.org/documentation.html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dsacademy.com.br/5-pacotes-python-que-todo-cientista-de-dados-deve-conhecer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blog.dsacademy.com.br/top-25-bibliotecas-python-para-data_science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oodesh.com/blog/carreiras/python-para-data-science-a-linguagem-mais-utilizada-na-area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bmc.com/blogs/python-big-data-analytics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cUw3DsDpQCE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youtu.be/r-uOLxNrNk8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-setorial.com.br/blog/229-170-projetos-de-data-science-e-machine-learning-com-python-resolvidos-e-explicados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Aplicação Cloud Indústria 40 Python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2" name="Google Shape;62;p1" descr="Imagem">
            <a:extLst>
              <a:ext uri="{FF2B5EF4-FFF2-40B4-BE49-F238E27FC236}">
                <a16:creationId xmlns:a16="http://schemas.microsoft.com/office/drawing/2014/main" id="{D9A56D89-1300-762A-5BD5-16B3C4E9985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348258" y="2277667"/>
            <a:ext cx="8681444" cy="1102519"/>
          </a:xfrm>
        </p:spPr>
        <p:txBody>
          <a:bodyPr>
            <a:noAutofit/>
          </a:bodyPr>
          <a:lstStyle/>
          <a:p>
            <a:pPr algn="l"/>
            <a:br>
              <a:rPr lang="pt-BR" b="1" dirty="0">
                <a:solidFill>
                  <a:schemeClr val="bg1"/>
                </a:solidFill>
              </a:rPr>
            </a:br>
            <a:r>
              <a:rPr lang="pt-BR" b="1" dirty="0">
                <a:solidFill>
                  <a:schemeClr val="bg1"/>
                </a:solidFill>
              </a:rPr>
              <a:t>Aula 10</a:t>
            </a:r>
            <a:br>
              <a:rPr lang="pt-BR" b="1" dirty="0">
                <a:solidFill>
                  <a:schemeClr val="bg1"/>
                </a:solidFill>
              </a:rPr>
            </a:br>
            <a:r>
              <a:rPr lang="pt-BR" b="1" dirty="0">
                <a:solidFill>
                  <a:schemeClr val="bg1"/>
                </a:solidFill>
              </a:rPr>
              <a:t>	</a:t>
            </a:r>
            <a:r>
              <a:rPr lang="pt-BR" sz="3600" b="1" dirty="0">
                <a:solidFill>
                  <a:schemeClr val="bg1"/>
                </a:solidFill>
              </a:rPr>
              <a:t>Integração Cloud com Big Data Parte 1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4" name="Google Shape;62;p1" descr="Imagem">
            <a:extLst>
              <a:ext uri="{FF2B5EF4-FFF2-40B4-BE49-F238E27FC236}">
                <a16:creationId xmlns:a16="http://schemas.microsoft.com/office/drawing/2014/main" id="{652F850C-6AD9-5CD4-839F-152858F1361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Python com Big Data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O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fornece um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grande número de bibliotecas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para trabalhar em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Big Data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Pode trabalhar também – em termos de desenvolvimento de código – usando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Big Data é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muito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mais rápido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que qualquer outra linguagem de programação.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Esses dois aspectos estão permitindo que desenvolvedores em todo o mundo adotem o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como 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linguagem de escolha para projetos de Big Data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requer muita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computação científica e análise de dados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89392544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Python com Big Data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Alguns desenvolvedores dizem que o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desempenho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melhor que o do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Python.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Agora quando está trabalhando com grande quantidade de dados (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GBs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TBs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etc.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o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desempenho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quase o mesmo, enquanto 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tempo de desenvolvimento é menor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quando trabalhando com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melhor coisa sobre o Python é que não há limitação de dados.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Pode-se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processar dados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até mesmo com uma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máquina simples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como um hardware comum, seu laptop, desktop e outros.</a:t>
            </a:r>
          </a:p>
        </p:txBody>
      </p:sp>
    </p:spTree>
    <p:extLst>
      <p:ext uri="{BB962C8B-B14F-4D97-AF65-F5344CB8AC3E}">
        <p14:creationId xmlns:p14="http://schemas.microsoft.com/office/powerpoint/2010/main" val="242211119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Python com Big Data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Python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pode ser usado para escrever programas e aplicativos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Hadoop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MapReduce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 acessar a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HDFS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para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Hadoop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usando o pacote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PyDoop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Uma das maiores vantagens do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PyDoop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API HDFS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Permite que se conecte a uma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instalação HDFS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leia e grave arquivos e obtenha informações sobre arquivos, diretórios e propriedades globais do sistema de arquivos sem problemas. 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957479400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Python com Big Data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A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MapReduce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PyDoop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permite resolver muitos problemas complexos com o mínimo de esforço de programação.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Conceitos avançados de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MapReduce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como 'Contadores' e 'Leitores de registros', podem ser implementados em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usando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PyDoop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Certificações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https://www.edureka.co/microsoft-azure-data-engineering-certification-course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74486457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Linguagens com Big Data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</a:t>
            </a:r>
          </a:p>
        </p:txBody>
      </p:sp>
    </p:spTree>
    <p:extLst>
      <p:ext uri="{BB962C8B-B14F-4D97-AF65-F5344CB8AC3E}">
        <p14:creationId xmlns:p14="http://schemas.microsoft.com/office/powerpoint/2010/main" val="1174601365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Formação Python com Big Data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Entender como um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Engenheiro de Big Data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aplica as tecnologias para resolução de problemas relacionados à dados;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Extrair e carregar tabelas a partir de arquivos, bases de dados e outras fontes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Acelerar o processamento de grandes bases de dados;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Planejar e implementar um projeto de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Big Data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 Análise e Visualização de Dados.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2980025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Por que? Python com Big Data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As tarefas diárias de um cientista de dados envolvem muitas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atividades inter-relacionadas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mas diferentes, como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acessar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manipular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dados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calcular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estatísticas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relatórios visuais sobre esses dados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As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tarefas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também incluem a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construção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modelos preditivos e explicativos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avaliando esses modelos em dados adicionais, integrando modelos em sistemas de produção, entre outros.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Python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tem uma gama diversificada de bibliotecas de código aberto para quase tudo que um Cientista de Dados faz em um dia normal.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7560465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Por que? Python com Big Data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Um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modelo preditivo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é, uma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função matemática, algoritmo,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que pode ser aplicada a uma grande quantidade de dados variados.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ideia é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evidenciar padrões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capazes de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apontar as próximas tendências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É como se fosse possível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prever com eficiência o futuro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de forma matemática, com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probabilidade e estatística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Python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de código aberto, alto nível, dinâmica, multiplataforma, modular, OO e usa um modelo baseado 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comunidade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para desenvolvimento.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2368522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Vantagens Python com Big Data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Python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mais próxima da “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visão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 humana do que da máquina, tem muitas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bibliotecas nativas e de terceiros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possui ampla aplicação em áreas como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IA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(Inteligência Artificial),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Science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Além disso, pode ser utilizada não apenas por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profissionais de tecnologia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como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biólogos, professores e pesquisadores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 geral.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Outro detalhe a ser observado é que os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cientistas de dados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utilizam muito uma ferramenta chamada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Jupyter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Notebook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que é muito útil por passar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respostas imediatas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para o cientista.</a:t>
            </a:r>
          </a:p>
        </p:txBody>
      </p:sp>
    </p:spTree>
    <p:extLst>
      <p:ext uri="{BB962C8B-B14F-4D97-AF65-F5344CB8AC3E}">
        <p14:creationId xmlns:p14="http://schemas.microsoft.com/office/powerpoint/2010/main" val="3709269535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Veredito Python com Big Data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84998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a melhor escolha para usar com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Big 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https://spark.apache.org/docs/latest/api/python/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https://spark.apache.org/documentation.html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Java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mais adequado para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apps complexos e de grande escala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enquanto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melhor para </a:t>
            </a:r>
            <a:r>
              <a:rPr lang="pt-BR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análise de dados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computação científica e </a:t>
            </a:r>
            <a:r>
              <a:rPr lang="pt-BR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A estrutura 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Hadoop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escrita em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no entanto, os programas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Hadoop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podem ser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codificados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em linguagem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ou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C++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https://insights.stackoverflow.com/survey/2021#most-popular-technologies-language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28757827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Ecossistema Python com Big Data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SciPy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um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ecossistema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baseado em Python de software de código aberto para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matemática, ciências e engenharia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base N-dimensional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package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SciPy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library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base N-dimensional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package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Compreensive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2D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Plotting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IPython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Enhanced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Interactive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Console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Symbolic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Mathematics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Pandas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Data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Structures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612938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Empregabilidade Python com Big Data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Atualmente, o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 de vagas é alto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bem como os salários pagos pelas empresas.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Dados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levantados junto ao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LinkedIn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sobre vagas abertas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e ao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Glassdoor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sobre as faixas salariais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a respeito da categoria.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R$ 6.142,00 e média de 3.613 vagas, sendo 1.087 remotas. 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Scientist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R$ 7.210,00 e média de 2.976 vagas, sendo 890 remotas; 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Engineer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R$ 7.601,00 e média de 2.709 vagas, sendo 946 remotas.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2335080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Cursos Python com Big Data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Alura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Awari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Codecademy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Coursera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Datacamp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Digital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House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FreeCodeCamp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JetBrains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Academy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Wagon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2407445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Cursos Python com Big Data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Platzi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Tera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Udacity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Udemy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Kaggle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Sirus.Education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Escola de Tecnologia, Experiência e Futuro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379032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Outros Python com Big Data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Pacotes Python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Science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Recursos Computacionais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https://blog.dsacademy.com.br/5-pacotes-python-que-todo-cientista-de-dados-deve-conhecer/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Bibliotecas Python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Science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https://blog.dsacademy.com.br/top-25-bibliotecas-python-para-data_science/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02469222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Leitura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Específica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1"/>
            <a:ext cx="8865056" cy="339447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para Data Science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https://coodesh.com/blog/carreiras/python-para-data-science-a-linguagem-mais-utilizada-na-area/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Python for Big Data &amp; Analytics (Python is Perfect for Big Data)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https://www.bmc.com/blogs/python-big-data-analytics/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0270425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Aprenda</a:t>
            </a:r>
            <a:r>
              <a:rPr lang="en-US" b="1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Analytics Using Python | Python Big Data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https://youtu.be/cUw3DsDpQCE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 with Python - Course (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Pandas, Matplotlib, Seaborn)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https://youtu.be/r-uOLxNrNk8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596967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Dinâmica</a:t>
            </a:r>
            <a:r>
              <a:rPr lang="en-US" b="1" dirty="0">
                <a:solidFill>
                  <a:srgbClr val="0070C0"/>
                </a:solidFill>
              </a:rPr>
              <a:t>/</a:t>
            </a:r>
            <a:r>
              <a:rPr lang="en-US" b="1" dirty="0" err="1">
                <a:solidFill>
                  <a:srgbClr val="0070C0"/>
                </a:solidFill>
              </a:rPr>
              <a:t>Atividades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63230"/>
            <a:ext cx="8865056" cy="387429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Abertos (URL)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https://dados.gov.br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https://brasil.io/home/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https://www2.camara.leg.br/transparencia/dados-abertos/dados-abertos-legislativo/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https://dadosabertos.camara.leg.br/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https://senano.leg.br/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https://dados.df.gov.br/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https://patiodigital.prefeitura.sp.gov.br/</a:t>
            </a:r>
          </a:p>
        </p:txBody>
      </p:sp>
    </p:spTree>
    <p:extLst>
      <p:ext uri="{BB962C8B-B14F-4D97-AF65-F5344CB8AC3E}">
        <p14:creationId xmlns:p14="http://schemas.microsoft.com/office/powerpoint/2010/main" val="1397642976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Dinâmica</a:t>
            </a:r>
            <a:r>
              <a:rPr lang="en-US" b="1" dirty="0">
                <a:solidFill>
                  <a:srgbClr val="0070C0"/>
                </a:solidFill>
              </a:rPr>
              <a:t>/</a:t>
            </a:r>
            <a:r>
              <a:rPr lang="en-US" b="1" dirty="0" err="1">
                <a:solidFill>
                  <a:srgbClr val="0070C0"/>
                </a:solidFill>
              </a:rPr>
              <a:t>Atividades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63230"/>
            <a:ext cx="8865056" cy="387429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biblioteca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anaconda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pandas,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Colab</a:t>
            </a:r>
            <a:endParaRPr lang="pt-BR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pandas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pd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# converter para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DataFrame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padrão eh ",", mas pode ser diferente, talvez necessário informar o encode</a:t>
            </a:r>
          </a:p>
          <a:p>
            <a:pPr marL="0" indent="0" algn="just"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pd.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read_csv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('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sample_data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/???.csv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',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sep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=';',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encoding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='cp1252’) #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escolher um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aqruivo</a:t>
            </a:r>
            <a:endParaRPr lang="pt-BR" sz="1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df.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# 5 primeiras linhas do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arq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ou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df.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tail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- 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05 ult.</a:t>
            </a:r>
          </a:p>
          <a:p>
            <a:pPr marL="0" indent="0" algn="just"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printf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df.c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ount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())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#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df.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describe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(), 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df.dtypes</a:t>
            </a:r>
            <a:endParaRPr lang="pt-BR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sigla_uf_unidade_ensino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'].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value_counts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# atributos em colchetes</a:t>
            </a: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inline</a:t>
            </a:r>
            <a:endParaRPr lang="pt-BR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sigla_uf_unidade_ensino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'].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value_counts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().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plot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bar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75896952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Link para </a:t>
            </a:r>
            <a:r>
              <a:rPr lang="en-US" b="1" dirty="0" err="1">
                <a:solidFill>
                  <a:srgbClr val="0070C0"/>
                </a:solidFill>
              </a:rPr>
              <a:t>Estudo</a:t>
            </a:r>
            <a:r>
              <a:rPr lang="en-US" b="1">
                <a:solidFill>
                  <a:srgbClr val="0070C0"/>
                </a:solidFill>
              </a:rPr>
              <a:t> Python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63230"/>
            <a:ext cx="8865056" cy="387429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https://www.e-setorial.com.br/blog/229-170-projetos-de-data-science-e-machine-learning-com-python-resolvidos-e-explicados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6867365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Referências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Bibliográficas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1"/>
            <a:ext cx="8865056" cy="339447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SIEGEL,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Idaltchion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Fabricio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Linguagem Python e suas aplicações em ciência de dados. 2018.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CIELEN, Davy; MEYSMAN, Arno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Introducing data science: big data, machine learning, and more, using Python tools. Simon and Schuster, 2016.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MARTÍNEZ BLANCO,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Miquel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Big Data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technologies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High Performance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Computing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2020. Trabalho de Conclusão de Curso.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Universitat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Politècnica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Catalunya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15311843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Aplicação Cloud Indústria 40 Python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>
                <a:solidFill>
                  <a:schemeClr val="bg1"/>
                </a:solidFill>
              </a:rPr>
              <a:t>M.Sc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2" name="Google Shape;62;p1" descr="Imagem">
            <a:extLst>
              <a:ext uri="{FF2B5EF4-FFF2-40B4-BE49-F238E27FC236}">
                <a16:creationId xmlns:a16="http://schemas.microsoft.com/office/drawing/2014/main" id="{9C895622-2963-024D-634E-EA58F5381D0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3257</TotalTime>
  <Words>1488</Words>
  <Application>Microsoft Office PowerPoint</Application>
  <PresentationFormat>Apresentação na tela (16:9)</PresentationFormat>
  <Paragraphs>174</Paragraphs>
  <Slides>24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29" baseType="lpstr">
      <vt:lpstr>Arial</vt:lpstr>
      <vt:lpstr>Calibri</vt:lpstr>
      <vt:lpstr>Times New Roman</vt:lpstr>
      <vt:lpstr>Wingdings</vt:lpstr>
      <vt:lpstr>Office Theme</vt:lpstr>
      <vt:lpstr>Aplicação Cloud Indústria 40 Python</vt:lpstr>
      <vt:lpstr> Aula 10  Integração Cloud com Big Data Parte 1</vt:lpstr>
      <vt:lpstr>Python com Big Data</vt:lpstr>
      <vt:lpstr>Python com Big Data</vt:lpstr>
      <vt:lpstr>Python com Big Data</vt:lpstr>
      <vt:lpstr>Python com Big Data</vt:lpstr>
      <vt:lpstr>Linguagens com Big Data</vt:lpstr>
      <vt:lpstr>Formação Python com Big Data</vt:lpstr>
      <vt:lpstr>Por que? Python com Big Data</vt:lpstr>
      <vt:lpstr>Por que? Python com Big Data</vt:lpstr>
      <vt:lpstr>Vantagens Python com Big Data</vt:lpstr>
      <vt:lpstr>Veredito Python com Big Data</vt:lpstr>
      <vt:lpstr>Ecossistema Python com Big Data</vt:lpstr>
      <vt:lpstr>Empregabilidade Python com Big Data</vt:lpstr>
      <vt:lpstr>Cursos Python com Big Data</vt:lpstr>
      <vt:lpstr>Cursos Python com Big Data</vt:lpstr>
      <vt:lpstr>Outros Python com Big Data</vt:lpstr>
      <vt:lpstr>Leitura Específica</vt:lpstr>
      <vt:lpstr>Aprenda+</vt:lpstr>
      <vt:lpstr>Dinâmica/Atividades</vt:lpstr>
      <vt:lpstr>Dinâmica/Atividades</vt:lpstr>
      <vt:lpstr>Link para Estudo Python</vt:lpstr>
      <vt:lpstr>Referências Bibliográficas</vt:lpstr>
      <vt:lpstr>Aplicação Cloud Indústria 40 Python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Nome da Disciplina</dc:title>
  <dc:creator>JOAO CAIRO FERREIRA</dc:creator>
  <cp:lastModifiedBy>Heleno Cardoso</cp:lastModifiedBy>
  <cp:revision>801</cp:revision>
  <dcterms:created xsi:type="dcterms:W3CDTF">2020-03-17T20:12:34Z</dcterms:created>
  <dcterms:modified xsi:type="dcterms:W3CDTF">2026-05-13T19:04:38Z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1033-11.1.0.9126</vt:lpwstr>
  </property>
</Properties>
</file>