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383" r:id="rId2"/>
    <p:sldId id="291" r:id="rId3"/>
    <p:sldId id="340" r:id="rId4"/>
    <p:sldId id="382" r:id="rId5"/>
    <p:sldId id="372" r:id="rId6"/>
    <p:sldId id="373" r:id="rId7"/>
    <p:sldId id="380" r:id="rId8"/>
    <p:sldId id="369" r:id="rId9"/>
    <p:sldId id="364" r:id="rId10"/>
    <p:sldId id="374" r:id="rId11"/>
    <p:sldId id="381" r:id="rId12"/>
    <p:sldId id="378" r:id="rId13"/>
    <p:sldId id="376" r:id="rId14"/>
    <p:sldId id="379" r:id="rId15"/>
    <p:sldId id="375" r:id="rId16"/>
    <p:sldId id="333" r:id="rId17"/>
    <p:sldId id="323" r:id="rId18"/>
    <p:sldId id="334" r:id="rId19"/>
    <p:sldId id="337" r:id="rId20"/>
    <p:sldId id="385" r:id="rId21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157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Ênfas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Estilo Claro 1 - Ênfas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012ECD-51FC-41F1-AA8D-1B2483CD663E}" styleName="Estilo Claro 2 - Ênfas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Estilo Claro 2 - Ênfase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147" autoAdjust="0"/>
    <p:restoredTop sz="83649" autoAdjust="0"/>
  </p:normalViewPr>
  <p:slideViewPr>
    <p:cSldViewPr snapToGrid="0">
      <p:cViewPr varScale="1">
        <p:scale>
          <a:sx n="71" d="100"/>
          <a:sy n="71" d="100"/>
        </p:scale>
        <p:origin x="678" y="60"/>
      </p:cViewPr>
      <p:guideLst>
        <p:guide orient="horz" pos="1572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4494"/>
    </p:cViewPr>
  </p:sorterViewPr>
  <p:notesViewPr>
    <p:cSldViewPr snapToGrid="0"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0" name="Shape 11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6252599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973974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762188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807458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666020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677674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419039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692608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897503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707189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656288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817620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681265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358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940510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853043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95695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962490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0351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85802" y="1597820"/>
            <a:ext cx="7772400" cy="1102519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2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2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t>Texto do Título</a:t>
            </a:r>
          </a:p>
        </p:txBody>
      </p:sp>
      <p:sp>
        <p:nvSpPr>
          <p:cNvPr id="30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722313" y="2180035"/>
            <a:ext cx="7772402" cy="112514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31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39" name="Nível de Corpo Um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57201" y="1200151"/>
            <a:ext cx="4038601" cy="3394472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40" indent="-320040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48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645028" y="1151334"/>
            <a:ext cx="4041774" cy="479824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5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457203" y="204787"/>
            <a:ext cx="3008315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73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3575052" y="204789"/>
            <a:ext cx="5111749" cy="438983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half" idx="13"/>
          </p:nvPr>
        </p:nvSpPr>
        <p:spPr>
          <a:xfrm>
            <a:off x="457198" y="1076326"/>
            <a:ext cx="3008316" cy="3518297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1792289" y="3600450"/>
            <a:ext cx="5486402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1792289" y="459581"/>
            <a:ext cx="5486402" cy="3086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792289" y="4025503"/>
            <a:ext cx="5486402" cy="60364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8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93" name="Nível de Corpo Um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94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629399" y="205980"/>
            <a:ext cx="2057401" cy="4388645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02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457200" y="205980"/>
            <a:ext cx="6019801" cy="438864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0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o Título"/>
          <p:cNvSpPr txBox="1"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rmAutofit/>
          </a:bodyPr>
          <a:lstStyle/>
          <a:p>
            <a:r>
              <a:t>Texto do Título</a:t>
            </a:r>
          </a:p>
        </p:txBody>
      </p:sp>
      <p:sp>
        <p:nvSpPr>
          <p:cNvPr id="3" name="Nível de Corpo Um…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>
            <a:normAutofit/>
          </a:bodyPr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8342803" y="4765688"/>
            <a:ext cx="344000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  <a:t>‹nº›</a:t>
            </a:fld>
            <a:endParaRPr/>
          </a:p>
        </p:txBody>
      </p:sp>
      <p:pic>
        <p:nvPicPr>
          <p:cNvPr id="5" name="Picture 5" descr="Picture 5"/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" name="Picture 6" descr="Picture 6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6649752" y="4972050"/>
            <a:ext cx="2494252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7" name="Imagem" descr="Imagem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51528" y="4341020"/>
            <a:ext cx="1690697" cy="54544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590" marR="0" indent="-32639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»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nlinegdb.com/" TargetMode="External"/><Relationship Id="rId7" Type="http://schemas.openxmlformats.org/officeDocument/2006/relationships/hyperlink" Target="https://pypi.org/project/pyFirmata2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pypi.org/project/pyserial/" TargetMode="External"/><Relationship Id="rId5" Type="http://schemas.openxmlformats.org/officeDocument/2006/relationships/hyperlink" Target="https://www.programiz.com/" TargetMode="External"/><Relationship Id="rId4" Type="http://schemas.openxmlformats.org/officeDocument/2006/relationships/hyperlink" Target="https://www.online-python.com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mbarcados.com.br/tinkercad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files.comunidades.net/mutcom/ARTIGO_SIST_EMB.pdf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eventos.spc.org.pe/cibse2015/pdfs/07_WER15.pdf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embarcados.com.br/cursos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youtube.com/watch?v=UIAOR32H1vk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Aplicação Cloud Indústria 40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2" name="Google Shape;62;p1" descr="Imagem">
            <a:extLst>
              <a:ext uri="{FF2B5EF4-FFF2-40B4-BE49-F238E27FC236}">
                <a16:creationId xmlns:a16="http://schemas.microsoft.com/office/drawing/2014/main" id="{D9A56D89-1300-762A-5BD5-16B3C4E9985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348258" y="2277667"/>
            <a:ext cx="8681444" cy="1102519"/>
          </a:xfrm>
        </p:spPr>
        <p:txBody>
          <a:bodyPr>
            <a:noAutofit/>
          </a:bodyPr>
          <a:lstStyle/>
          <a:p>
            <a:pPr algn="l"/>
            <a:br>
              <a:rPr lang="pt-BR" b="1" dirty="0">
                <a:solidFill>
                  <a:schemeClr val="bg1"/>
                </a:solidFill>
              </a:rPr>
            </a:br>
            <a:r>
              <a:rPr lang="pt-BR" b="1" dirty="0">
                <a:solidFill>
                  <a:schemeClr val="bg1"/>
                </a:solidFill>
              </a:rPr>
              <a:t>Aula 04</a:t>
            </a:r>
            <a:br>
              <a:rPr lang="pt-BR" b="1" dirty="0">
                <a:solidFill>
                  <a:schemeClr val="bg1"/>
                </a:solidFill>
              </a:rPr>
            </a:br>
            <a:r>
              <a:rPr lang="pt-BR" b="1" dirty="0">
                <a:solidFill>
                  <a:schemeClr val="bg1"/>
                </a:solidFill>
              </a:rPr>
              <a:t>	</a:t>
            </a:r>
            <a:r>
              <a:rPr lang="pt-BR" sz="3600" b="1" dirty="0">
                <a:solidFill>
                  <a:schemeClr val="bg1"/>
                </a:solidFill>
              </a:rPr>
              <a:t>Arduino – Plataforma </a:t>
            </a:r>
            <a:r>
              <a:rPr lang="pt-BR" sz="3600" b="1" dirty="0" err="1">
                <a:solidFill>
                  <a:schemeClr val="bg1"/>
                </a:solidFill>
              </a:rPr>
              <a:t>Tinkercad</a:t>
            </a:r>
            <a:r>
              <a:rPr lang="pt-BR" sz="3600" b="1" dirty="0">
                <a:solidFill>
                  <a:schemeClr val="bg1"/>
                </a:solidFill>
              </a:rPr>
              <a:t>  Prática</a:t>
            </a:r>
            <a:br>
              <a:rPr lang="pt-BR" sz="3600" b="1" dirty="0">
                <a:solidFill>
                  <a:schemeClr val="bg1"/>
                </a:solidFill>
              </a:rPr>
            </a:br>
            <a:r>
              <a:rPr lang="pt-BR" sz="3600" b="1" dirty="0" err="1">
                <a:solidFill>
                  <a:schemeClr val="bg1"/>
                </a:solidFill>
              </a:rPr>
              <a:t>IoT</a:t>
            </a:r>
            <a:r>
              <a:rPr lang="pt-BR" sz="3600" b="1" dirty="0">
                <a:solidFill>
                  <a:schemeClr val="bg1"/>
                </a:solidFill>
              </a:rPr>
              <a:t>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4" name="Google Shape;62;p1" descr="Imagem">
            <a:extLst>
              <a:ext uri="{FF2B5EF4-FFF2-40B4-BE49-F238E27FC236}">
                <a16:creationId xmlns:a16="http://schemas.microsoft.com/office/drawing/2014/main" id="{652F850C-6AD9-5CD4-839F-152858F1361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Plataforma Arduino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395222"/>
            <a:ext cx="8865056" cy="367665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Placa Arduino, Lógica de prototipagem e no software de programação.</a:t>
            </a: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Prototipagem eletrônica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 soluções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IoT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Vantagens: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Baixo custo</a:t>
            </a:r>
          </a:p>
          <a:p>
            <a:pPr marL="457200" lvl="1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Simples de se aprender e Comunidade forte</a:t>
            </a:r>
          </a:p>
        </p:txBody>
      </p:sp>
    </p:spTree>
    <p:extLst>
      <p:ext uri="{BB962C8B-B14F-4D97-AF65-F5344CB8AC3E}">
        <p14:creationId xmlns:p14="http://schemas.microsoft.com/office/powerpoint/2010/main" val="1610113958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Arduino Python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395222"/>
            <a:ext cx="8865056" cy="367665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Ambientes Python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https://www.onlinegdb.com/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https://www.online-python.com/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https://www.programiz.com/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(aprendizado de várias linguagens de programação)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 Python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PyCharm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VS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Sublime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Jupiter Notebook, IDLE.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Arduino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PySerial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https://pypi.org/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project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pyserial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/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–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Arduino UNO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	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PyFirmata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https://pypi.org/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project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/pyFirmata2/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–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Raspberry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</a:t>
            </a:r>
          </a:p>
        </p:txBody>
      </p:sp>
    </p:spTree>
    <p:extLst>
      <p:ext uri="{BB962C8B-B14F-4D97-AF65-F5344CB8AC3E}">
        <p14:creationId xmlns:p14="http://schemas.microsoft.com/office/powerpoint/2010/main" val="2916664628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Plataforma Arduino </a:t>
            </a:r>
            <a:r>
              <a:rPr lang="en-US" b="1" dirty="0" err="1">
                <a:solidFill>
                  <a:srgbClr val="0070C0"/>
                </a:solidFill>
              </a:rPr>
              <a:t>Tinkercad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27280" y="953502"/>
            <a:ext cx="8865056" cy="4081793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Tipos de Arduino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UNO R3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(mais conhecido e utilizado)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NANO (menor Arduino)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MEGA (possui mais portas) –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chip SMB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soldado na placa</a:t>
            </a:r>
          </a:p>
          <a:p>
            <a:pPr algn="just"/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7995799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Plataforma Arduino </a:t>
            </a:r>
            <a:r>
              <a:rPr lang="en-US" b="1" dirty="0" err="1">
                <a:solidFill>
                  <a:srgbClr val="0070C0"/>
                </a:solidFill>
              </a:rPr>
              <a:t>Tinkercad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27280" y="953502"/>
            <a:ext cx="8865056" cy="4081793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Arduino UNO, componentes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Alimentação(9v a 16v) e comunicação (USB) com o computador e o software;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Microcontrolador;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Cristal Oscilador (frequência (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clock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timer);</a:t>
            </a:r>
          </a:p>
          <a:p>
            <a:pPr algn="just"/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Pinos digitais (sensor, leds, luzes,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portas digitais, portas analógicas.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7099144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Plataforma Arduino </a:t>
            </a:r>
            <a:r>
              <a:rPr lang="en-US" b="1" dirty="0" err="1">
                <a:solidFill>
                  <a:srgbClr val="0070C0"/>
                </a:solidFill>
              </a:rPr>
              <a:t>Tinkercad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27280" y="953502"/>
            <a:ext cx="8865056" cy="4081793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Técnicas de Programação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Diretivas e Bibliotecas</a:t>
            </a:r>
          </a:p>
          <a:p>
            <a:pPr algn="just"/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Setup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preparação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e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Loop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repetição das instruções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just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Constantes/Variáveis;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Arrays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Estruturas de Repetição: For;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Do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Estruturas Condicionais: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case</a:t>
            </a:r>
          </a:p>
          <a:p>
            <a:pPr algn="just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Saídas Digitais: OUTPUT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controlar os objetos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just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Entradas Digitais: INPUT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ler os componentes, sensores, sinais,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just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Entradas/Saídas Analógicas: A0 a A5</a:t>
            </a:r>
          </a:p>
          <a:p>
            <a:pPr algn="just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Funções</a:t>
            </a:r>
          </a:p>
        </p:txBody>
      </p:sp>
    </p:spTree>
    <p:extLst>
      <p:ext uri="{BB962C8B-B14F-4D97-AF65-F5344CB8AC3E}">
        <p14:creationId xmlns:p14="http://schemas.microsoft.com/office/powerpoint/2010/main" val="2501296459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Plataforma Arduino </a:t>
            </a:r>
            <a:r>
              <a:rPr lang="en-US" b="1" dirty="0" err="1">
                <a:solidFill>
                  <a:srgbClr val="0070C0"/>
                </a:solidFill>
              </a:rPr>
              <a:t>Tinkercad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38784"/>
            <a:ext cx="8865056" cy="391466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hlinkClick r:id="rId3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hlinkClick r:id="rId3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https://embarcados.com.br/tinkercad/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C3DC84B-0383-9EFC-0BC1-FB70E21A18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65" y="1063231"/>
            <a:ext cx="7297994" cy="3520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18930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Tinkercad</a:t>
            </a:r>
            <a:r>
              <a:rPr lang="en-US" b="1" dirty="0">
                <a:solidFill>
                  <a:srgbClr val="0070C0"/>
                </a:solidFill>
              </a:rPr>
              <a:t> – Código </a:t>
            </a:r>
            <a:r>
              <a:rPr lang="en-US" b="1" dirty="0" err="1">
                <a:solidFill>
                  <a:srgbClr val="0070C0"/>
                </a:solidFill>
              </a:rPr>
              <a:t>Básico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92886"/>
            <a:ext cx="8865056" cy="3944634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aba circuitos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NOVO circuito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18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Seção de Configuração -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Arduino Uno R3,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pino 13 default</a:t>
            </a:r>
          </a:p>
          <a:p>
            <a:pPr marL="0" indent="0" algn="just">
              <a:buNone/>
            </a:pP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setup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() { </a:t>
            </a: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pinMode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(LED_BUILTIN,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} //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Saída Digital, pino 13</a:t>
            </a: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18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Seção da Aplicação</a:t>
            </a:r>
          </a:p>
          <a:p>
            <a:pPr marL="0" indent="0" algn="just">
              <a:buNone/>
            </a:pP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loop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 //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Acende e desliga o led ligado ao pino 13, num intervalo de 1s</a:t>
            </a: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(LED_BUILTIN,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delay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(1000); </a:t>
            </a: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(LED_BUILTIN,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delay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(1000); }</a:t>
            </a:r>
          </a:p>
        </p:txBody>
      </p:sp>
    </p:spTree>
    <p:extLst>
      <p:ext uri="{BB962C8B-B14F-4D97-AF65-F5344CB8AC3E}">
        <p14:creationId xmlns:p14="http://schemas.microsoft.com/office/powerpoint/2010/main" val="3395413864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Passos</a:t>
            </a:r>
            <a:r>
              <a:rPr lang="en-US" b="1" dirty="0">
                <a:solidFill>
                  <a:srgbClr val="0070C0"/>
                </a:solidFill>
              </a:rPr>
              <a:t> p/ </a:t>
            </a:r>
            <a:r>
              <a:rPr lang="en-US" b="1" dirty="0" err="1">
                <a:solidFill>
                  <a:srgbClr val="0070C0"/>
                </a:solidFill>
              </a:rPr>
              <a:t>Criar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Projetos</a:t>
            </a:r>
            <a:r>
              <a:rPr lang="en-US" b="1" dirty="0">
                <a:solidFill>
                  <a:srgbClr val="0070C0"/>
                </a:solidFill>
              </a:rPr>
              <a:t> no </a:t>
            </a:r>
            <a:r>
              <a:rPr lang="en-US" b="1" dirty="0" err="1">
                <a:solidFill>
                  <a:srgbClr val="0070C0"/>
                </a:solidFill>
              </a:rPr>
              <a:t>Tinkercad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14400"/>
            <a:ext cx="8865056" cy="3864864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Criar um 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NOVO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projeto do tipo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circuito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Adicionar o Arduino UNO R3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Abrir a aba Código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Mudar para a 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programação texto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Codificar se necessário conforme a solução do projeto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Testar solução no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Setup e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Loop</a:t>
            </a:r>
          </a:p>
        </p:txBody>
      </p:sp>
    </p:spTree>
    <p:extLst>
      <p:ext uri="{BB962C8B-B14F-4D97-AF65-F5344CB8AC3E}">
        <p14:creationId xmlns:p14="http://schemas.microsoft.com/office/powerpoint/2010/main" val="4146549695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Tinkercad</a:t>
            </a:r>
            <a:r>
              <a:rPr lang="en-US" b="1" dirty="0">
                <a:solidFill>
                  <a:srgbClr val="0070C0"/>
                </a:solidFill>
              </a:rPr>
              <a:t> – Hello World no Monitor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14400"/>
            <a:ext cx="8865056" cy="386486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tempo 1000</a:t>
            </a:r>
          </a:p>
          <a:p>
            <a:pPr marL="0" indent="0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setup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pinMode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(LED_BUILTIN,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Serial.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begin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9600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 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baud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rate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Serial.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(“</a:t>
            </a:r>
            <a:r>
              <a:rPr lang="pt-BR" sz="20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r>
              <a:rPr lang="pt-BR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World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”);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baud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rate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velocidade de comunicação o computador,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taxa em bps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0790EAA-BD40-6646-0955-2EDBC47F45A4}"/>
              </a:ext>
            </a:extLst>
          </p:cNvPr>
          <p:cNvSpPr txBox="1"/>
          <p:nvPr/>
        </p:nvSpPr>
        <p:spPr>
          <a:xfrm>
            <a:off x="4362770" y="1706125"/>
            <a:ext cx="4645151" cy="230832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loop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(LED_BUILTIN,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Wait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1000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(LED_BUILTIN,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Wait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1000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>
              <a:buNone/>
            </a:pPr>
            <a:endParaRPr lang="pt-BR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0434969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Tinkercad</a:t>
            </a:r>
            <a:r>
              <a:rPr lang="en-US" b="1" dirty="0">
                <a:solidFill>
                  <a:srgbClr val="0070C0"/>
                </a:solidFill>
              </a:rPr>
              <a:t> – Led Blink, </a:t>
            </a:r>
            <a:r>
              <a:rPr lang="en-US" b="1" dirty="0" err="1">
                <a:solidFill>
                  <a:srgbClr val="0070C0"/>
                </a:solidFill>
              </a:rPr>
              <a:t>pino</a:t>
            </a:r>
            <a:r>
              <a:rPr lang="en-US" b="1" dirty="0">
                <a:solidFill>
                  <a:srgbClr val="0070C0"/>
                </a:solidFill>
              </a:rPr>
              <a:t> 12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14400"/>
            <a:ext cx="8865056" cy="386486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tempo 1000</a:t>
            </a:r>
          </a:p>
          <a:p>
            <a:pPr marL="0" indent="0">
              <a:buNone/>
            </a:pP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pinoLed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12;</a:t>
            </a:r>
          </a:p>
          <a:p>
            <a:pPr marL="0" indent="0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setup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pinMode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pinoLed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OUTPUT); 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Pode utilizar 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resistor (ohms)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limitador de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corrente elétrica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 LED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pino 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cátodo (-) ligar no resistor ou GND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anodo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(+) ligar no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pino digital.</a:t>
            </a:r>
          </a:p>
          <a:p>
            <a:pPr marL="0" indent="0">
              <a:buNone/>
            </a:pPr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0790EAA-BD40-6646-0955-2EDBC47F45A4}"/>
              </a:ext>
            </a:extLst>
          </p:cNvPr>
          <p:cNvSpPr txBox="1"/>
          <p:nvPr/>
        </p:nvSpPr>
        <p:spPr>
          <a:xfrm>
            <a:off x="3456432" y="2017455"/>
            <a:ext cx="5544703" cy="2554545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loop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pinoLed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1000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pinoLed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1000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63491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Tinkercad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Piscar</a:t>
            </a:r>
            <a:r>
              <a:rPr lang="en-US" b="1" dirty="0">
                <a:solidFill>
                  <a:srgbClr val="0070C0"/>
                </a:solidFill>
              </a:rPr>
              <a:t> 4 </a:t>
            </a:r>
            <a:r>
              <a:rPr lang="en-US" b="1" dirty="0" err="1">
                <a:solidFill>
                  <a:srgbClr val="0070C0"/>
                </a:solidFill>
              </a:rPr>
              <a:t>Leds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14400"/>
            <a:ext cx="8865056" cy="386486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tempo 1000</a:t>
            </a:r>
          </a:p>
          <a:p>
            <a:pPr marL="0" indent="0">
              <a:buNone/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pinoLed9 = 9;</a:t>
            </a:r>
          </a:p>
          <a:p>
            <a:pPr marL="0" indent="0">
              <a:buNone/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pinoLed10 = 10;</a:t>
            </a:r>
          </a:p>
          <a:p>
            <a:pPr marL="0" indent="0">
              <a:buNone/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pinoLed11 = 11;</a:t>
            </a:r>
          </a:p>
          <a:p>
            <a:pPr marL="0" indent="0">
              <a:buNone/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pinoLed12 = 12;</a:t>
            </a:r>
          </a:p>
          <a:p>
            <a:pPr marL="0" indent="0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setup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0" indent="0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pinMode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(pinoLed9,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pinMode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(pinoLed10,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pinMode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(pinoLed11,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pinMode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(pinoLed12,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 }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0790EAA-BD40-6646-0955-2EDBC47F45A4}"/>
              </a:ext>
            </a:extLst>
          </p:cNvPr>
          <p:cNvSpPr txBox="1"/>
          <p:nvPr/>
        </p:nvSpPr>
        <p:spPr>
          <a:xfrm>
            <a:off x="3142097" y="914400"/>
            <a:ext cx="5544703" cy="3970318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loop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Wait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1000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(pinoLed9, HIGH);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Wait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1000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(pinoLed9, LOW);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Wait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1000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(pinoLed10, HIGH);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Wait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1000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(pinoLed10, LOW);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Wait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1000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(pinoLed11, HIGH);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Wait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1000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(pinoLed11, LOW);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Wait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1000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(pinoLed12, HIGH);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Wait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1000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(pinoLed12, LOW);</a:t>
            </a:r>
          </a:p>
          <a:p>
            <a:pPr marL="0" indent="0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Wait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1000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     }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24D291B-1CB5-37B4-42E6-337551CE3F4E}"/>
              </a:ext>
            </a:extLst>
          </p:cNvPr>
          <p:cNvSpPr txBox="1"/>
          <p:nvPr/>
        </p:nvSpPr>
        <p:spPr>
          <a:xfrm>
            <a:off x="6843749" y="3767435"/>
            <a:ext cx="2003612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pt-BR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Solução:</a:t>
            </a:r>
          </a:p>
          <a:p>
            <a:r>
              <a:rPr lang="pt-BR" sz="12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leds[] = {9, 10, 11, 12};</a:t>
            </a:r>
          </a:p>
        </p:txBody>
      </p:sp>
    </p:spTree>
    <p:extLst>
      <p:ext uri="{BB962C8B-B14F-4D97-AF65-F5344CB8AC3E}">
        <p14:creationId xmlns:p14="http://schemas.microsoft.com/office/powerpoint/2010/main" val="3247763153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Tinkercad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Lâmpada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14400"/>
            <a:ext cx="8865056" cy="412089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tempo 1000				// https://youtu.be/vB6_cf0G3VM</a:t>
            </a:r>
          </a:p>
          <a:p>
            <a:pPr marL="0" indent="0">
              <a:buNone/>
            </a:pP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pinoLed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12	// https://www.youtube.com/shorts/juxRSrEHPBo?feature=share</a:t>
            </a:r>
          </a:p>
          <a:p>
            <a:pPr marL="0" indent="0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setup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pinMode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pinoLed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>
              <a:buNone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Adicionar ao Projeto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Arduino UNO R3</a:t>
            </a:r>
          </a:p>
          <a:p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Lâmpada</a:t>
            </a:r>
          </a:p>
          <a:p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Bateria de 9V</a:t>
            </a:r>
          </a:p>
          <a:p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Relé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SPDT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(p/ open/close circuito)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0790EAA-BD40-6646-0955-2EDBC47F45A4}"/>
              </a:ext>
            </a:extLst>
          </p:cNvPr>
          <p:cNvSpPr txBox="1"/>
          <p:nvPr/>
        </p:nvSpPr>
        <p:spPr>
          <a:xfrm>
            <a:off x="3675889" y="1661923"/>
            <a:ext cx="5230368" cy="2554545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loop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pinoLed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1000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digitalWrite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pinoLed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1000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D2E68B4-0FB0-8A4A-0B47-A3E79F02C2FF}"/>
              </a:ext>
            </a:extLst>
          </p:cNvPr>
          <p:cNvSpPr txBox="1"/>
          <p:nvPr/>
        </p:nvSpPr>
        <p:spPr>
          <a:xfrm>
            <a:off x="3822192" y="3557968"/>
            <a:ext cx="4572000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ATENÇÃO Ligação do Relé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Terminal 1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ligar na bateria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Terminal 5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ligar no pino 12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Terminal 6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ligar na lâmpada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Terminal 8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ligar no GND digital</a:t>
            </a:r>
          </a:p>
        </p:txBody>
      </p:sp>
    </p:spTree>
    <p:extLst>
      <p:ext uri="{BB962C8B-B14F-4D97-AF65-F5344CB8AC3E}">
        <p14:creationId xmlns:p14="http://schemas.microsoft.com/office/powerpoint/2010/main" val="803760142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Tinkercad</a:t>
            </a:r>
            <a:r>
              <a:rPr lang="en-US" b="1" dirty="0">
                <a:solidFill>
                  <a:srgbClr val="0070C0"/>
                </a:solidFill>
              </a:rPr>
              <a:t> – Contador no Display LCD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14399"/>
            <a:ext cx="8865056" cy="41054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#include &lt;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Adafruit_LiquidCrystal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.h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tempo 800</a:t>
            </a:r>
          </a:p>
          <a:p>
            <a:pPr marL="0" indent="0">
              <a:buNone/>
            </a:pP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cont_segs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1; // contador de segundos</a:t>
            </a:r>
          </a:p>
          <a:p>
            <a:pPr marL="0" indent="0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Adafruit_LiquidCrystal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lcd_1(0);</a:t>
            </a:r>
          </a:p>
          <a:p>
            <a:pPr marL="0" indent="0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setup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lcd_1.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begin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(16, 2);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lcd_1.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(“</a:t>
            </a:r>
            <a:r>
              <a:rPr lang="pt-BR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Senha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"); }</a:t>
            </a:r>
          </a:p>
          <a:p>
            <a:pPr marL="0" indent="0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0790EAA-BD40-6646-0955-2EDBC47F45A4}"/>
              </a:ext>
            </a:extLst>
          </p:cNvPr>
          <p:cNvSpPr txBox="1"/>
          <p:nvPr/>
        </p:nvSpPr>
        <p:spPr>
          <a:xfrm>
            <a:off x="3980687" y="2465342"/>
            <a:ext cx="4919473" cy="2554545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lcd_1.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setCursor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(0, 1);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lcd_1.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cont_segs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lcd_1.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setBacklight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(1);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aguarda 800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lcd_1.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setBacklight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(0);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(tempo); // aguarda 800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millisecond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(s)</a:t>
            </a: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cont_segs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+= 1; }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95488A6-D79B-9BA7-8FBA-B6B72DF85A8B}"/>
              </a:ext>
            </a:extLst>
          </p:cNvPr>
          <p:cNvSpPr txBox="1"/>
          <p:nvPr/>
        </p:nvSpPr>
        <p:spPr>
          <a:xfrm>
            <a:off x="4435921" y="914398"/>
            <a:ext cx="4572000" cy="1384995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GND: Pino GND do LCD ao GND do Arduino.</a:t>
            </a:r>
          </a:p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VCC: Pino VCC do LCD ao 5V do Arduino.</a:t>
            </a:r>
          </a:p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SDA: Pino SDA do módulo I2C ao pino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A4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(no Uno/Nano) do Arduino.</a:t>
            </a:r>
          </a:p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SCL: Pino SCL do módulo I2C ao pino </a:t>
            </a:r>
            <a:r>
              <a:rPr lang="pt-B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A5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(no Uno/Nano) do Arduino. </a:t>
            </a:r>
          </a:p>
        </p:txBody>
      </p:sp>
    </p:spTree>
    <p:extLst>
      <p:ext uri="{BB962C8B-B14F-4D97-AF65-F5344CB8AC3E}">
        <p14:creationId xmlns:p14="http://schemas.microsoft.com/office/powerpoint/2010/main" val="2459608027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Leitura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Específica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6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Sistemas Embarcados.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https://files.comunidades.net/mutcom/ARTIGO_SIST_EMB.pdf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Elicitação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Especificação de Requisitos Sistemas Embarcados.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https://eventos.spc.org.pe/cibse2015/pdfs/07_WER15.pdf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0270425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Aprenda</a:t>
            </a:r>
            <a:r>
              <a:rPr lang="en-US" b="1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Cursos Sistemas Embarcados - Microcontroladores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https://embarcados.com.br/cursos/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Arquitetura de Software para Sistemas Embarcados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https://www.youtube.com/watch?v=UIAOR32H1vk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596967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Dinâmica</a:t>
            </a:r>
            <a:r>
              <a:rPr lang="en-US" b="1" dirty="0">
                <a:solidFill>
                  <a:srgbClr val="0070C0"/>
                </a:solidFill>
              </a:rPr>
              <a:t>/</a:t>
            </a:r>
            <a:r>
              <a:rPr lang="en-US" b="1" dirty="0" err="1">
                <a:solidFill>
                  <a:srgbClr val="0070C0"/>
                </a:solidFill>
              </a:rPr>
              <a:t>Atividades</a:t>
            </a:r>
            <a:r>
              <a:rPr lang="en-US" b="1" dirty="0">
                <a:solidFill>
                  <a:srgbClr val="0070C0"/>
                </a:solidFill>
              </a:rPr>
              <a:t> - </a:t>
            </a:r>
            <a:r>
              <a:rPr lang="en-US" b="1" dirty="0" err="1">
                <a:solidFill>
                  <a:srgbClr val="0070C0"/>
                </a:solidFill>
              </a:rPr>
              <a:t>Exercícios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99645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Criar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Arduino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para: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Imprimir na porta serial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World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Monitor;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Fazer um led piscar no pino 12,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Blink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Fazer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piscar 4 Leds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Acender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uma Lâmpada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Contador no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 LCD I2C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Otimizar o código do projeto 3 utilizando estrutura de repetição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Projeto Livre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(Teams)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Elaborar um QUIZ com 05 (cinco) perguntas/respostas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648DF661-8007-602F-A418-4665E4810078}"/>
              </a:ext>
            </a:extLst>
          </p:cNvPr>
          <p:cNvSpPr txBox="1"/>
          <p:nvPr/>
        </p:nvSpPr>
        <p:spPr>
          <a:xfrm>
            <a:off x="7000916" y="3350577"/>
            <a:ext cx="2003612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pt-BR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Solução:</a:t>
            </a:r>
          </a:p>
          <a:p>
            <a:r>
              <a:rPr lang="pt-BR" sz="12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leds[] = {9, 10, 11, 12};</a:t>
            </a:r>
          </a:p>
        </p:txBody>
      </p:sp>
    </p:spTree>
    <p:extLst>
      <p:ext uri="{BB962C8B-B14F-4D97-AF65-F5344CB8AC3E}">
        <p14:creationId xmlns:p14="http://schemas.microsoft.com/office/powerpoint/2010/main" val="2470652989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Referências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Bibliográficas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6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1800" dirty="0">
                <a:latin typeface="Calibri" panose="020F0502020204030204" pitchFamily="34" charset="0"/>
              </a:rPr>
              <a:t>[1] </a:t>
            </a:r>
            <a:r>
              <a:rPr lang="pt-BR" sz="1800" b="1" dirty="0">
                <a:latin typeface="Calibri" panose="020F0502020204030204" pitchFamily="34" charset="0"/>
              </a:rPr>
              <a:t>OSSADA, Jaime </a:t>
            </a:r>
            <a:r>
              <a:rPr lang="pt-BR" sz="1800" b="1" dirty="0" err="1">
                <a:latin typeface="Calibri" panose="020F0502020204030204" pitchFamily="34" charset="0"/>
              </a:rPr>
              <a:t>Cazuhiro</a:t>
            </a:r>
            <a:r>
              <a:rPr lang="pt-BR" sz="1800" b="1" dirty="0">
                <a:latin typeface="Calibri" panose="020F0502020204030204" pitchFamily="34" charset="0"/>
              </a:rPr>
              <a:t> et al. GERSE</a:t>
            </a:r>
            <a:r>
              <a:rPr lang="pt-BR" sz="1800" dirty="0">
                <a:latin typeface="Calibri" panose="020F0502020204030204" pitchFamily="34" charset="0"/>
              </a:rPr>
              <a:t>: Guia de </a:t>
            </a:r>
            <a:r>
              <a:rPr lang="pt-BR" sz="1800" dirty="0" err="1">
                <a:latin typeface="Calibri" panose="020F0502020204030204" pitchFamily="34" charset="0"/>
              </a:rPr>
              <a:t>Elicitação</a:t>
            </a:r>
            <a:r>
              <a:rPr lang="pt-BR" sz="1800" dirty="0">
                <a:latin typeface="Calibri" panose="020F0502020204030204" pitchFamily="34" charset="0"/>
              </a:rPr>
              <a:t> de Requisitos para Sistemas Embarcados. In: WER. 2012.</a:t>
            </a:r>
          </a:p>
          <a:p>
            <a:pPr marL="0" indent="0" algn="just">
              <a:buNone/>
            </a:pPr>
            <a:endParaRPr lang="pt-BR" sz="18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pt-BR" sz="1800" dirty="0">
                <a:latin typeface="Calibri" panose="020F0502020204030204" pitchFamily="34" charset="0"/>
              </a:rPr>
              <a:t>[2] </a:t>
            </a:r>
            <a:r>
              <a:rPr lang="pt-BR" sz="1800" b="1" dirty="0">
                <a:latin typeface="Calibri" panose="020F0502020204030204" pitchFamily="34" charset="0"/>
              </a:rPr>
              <a:t>BARBIERO, Andréia Aparecida; HEXSEL, Roberto André.</a:t>
            </a:r>
            <a:r>
              <a:rPr lang="pt-BR" sz="1800" dirty="0">
                <a:latin typeface="Calibri" panose="020F0502020204030204" pitchFamily="34" charset="0"/>
              </a:rPr>
              <a:t> </a:t>
            </a:r>
            <a:r>
              <a:rPr lang="pt-BR" sz="1800" dirty="0" err="1">
                <a:latin typeface="Calibri" panose="020F0502020204030204" pitchFamily="34" charset="0"/>
              </a:rPr>
              <a:t>Simulaçao</a:t>
            </a:r>
            <a:r>
              <a:rPr lang="pt-BR" sz="1800" dirty="0">
                <a:latin typeface="Calibri" panose="020F0502020204030204" pitchFamily="34" charset="0"/>
              </a:rPr>
              <a:t> de Sistemas Embarcados utilizando </a:t>
            </a:r>
            <a:r>
              <a:rPr lang="pt-BR" sz="1800" dirty="0" err="1">
                <a:latin typeface="Calibri" panose="020F0502020204030204" pitchFamily="34" charset="0"/>
              </a:rPr>
              <a:t>ArchC</a:t>
            </a:r>
            <a:r>
              <a:rPr lang="pt-BR" sz="1800" dirty="0">
                <a:latin typeface="Calibri" panose="020F0502020204030204" pitchFamily="34" charset="0"/>
              </a:rPr>
              <a:t>. In: Anais do VII Workshop em Sistemas Computacionais de Alto Desempenho. SBC, 2006. p. 17-24.</a:t>
            </a:r>
          </a:p>
          <a:p>
            <a:pPr marL="0" indent="0" algn="just">
              <a:buNone/>
            </a:pPr>
            <a:endParaRPr lang="pt-BR" sz="18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CUNHA, Alessandro F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O que são sistemas embarcados. Saber Eletrônica, v. 43, n. 414, p. 1-6, 2007.</a:t>
            </a:r>
          </a:p>
          <a:p>
            <a:pPr marL="0" indent="0" algn="just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OSSADA, Jaime 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Cazuhiro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et al. GERSE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Guia de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Elicitação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Requisitos para Sistemas Embarcados. In: WER. 2012.</a:t>
            </a:r>
          </a:p>
          <a:p>
            <a:pPr marL="0" indent="0" algn="just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5311843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Aplicação Cloud Indústria 40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2" name="Google Shape;62;p1" descr="Imagem">
            <a:extLst>
              <a:ext uri="{FF2B5EF4-FFF2-40B4-BE49-F238E27FC236}">
                <a16:creationId xmlns:a16="http://schemas.microsoft.com/office/drawing/2014/main" id="{D9A56D89-1300-762A-5BD5-16B3C4E9985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18287873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5057</TotalTime>
  <Words>1611</Words>
  <Application>Microsoft Office PowerPoint</Application>
  <PresentationFormat>Apresentação na tela (16:9)</PresentationFormat>
  <Paragraphs>237</Paragraphs>
  <Slides>20</Slides>
  <Notes>18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Arial</vt:lpstr>
      <vt:lpstr>Calibri</vt:lpstr>
      <vt:lpstr>Times New Roman</vt:lpstr>
      <vt:lpstr>Wingdings</vt:lpstr>
      <vt:lpstr>Office Theme</vt:lpstr>
      <vt:lpstr>Aplicação Cloud Indústria 40 Python</vt:lpstr>
      <vt:lpstr> Aula 04  Arduino – Plataforma Tinkercad  Prática IoT Python</vt:lpstr>
      <vt:lpstr>Plataforma Arduino</vt:lpstr>
      <vt:lpstr>Arduino Python</vt:lpstr>
      <vt:lpstr>Plataforma Arduino Tinkercad</vt:lpstr>
      <vt:lpstr>Plataforma Arduino Tinkercad</vt:lpstr>
      <vt:lpstr>Plataforma Arduino Tinkercad</vt:lpstr>
      <vt:lpstr>Plataforma Arduino Tinkercad</vt:lpstr>
      <vt:lpstr>Tinkercad – Código Básico</vt:lpstr>
      <vt:lpstr>Passos p/ Criar Projetos no Tinkercad</vt:lpstr>
      <vt:lpstr>Tinkercad – Hello World no Monitor</vt:lpstr>
      <vt:lpstr>Tinkercad – Led Blink, pino 12</vt:lpstr>
      <vt:lpstr>Tinkercad – Piscar 4 Leds</vt:lpstr>
      <vt:lpstr>Tinkercad – Lâmpada</vt:lpstr>
      <vt:lpstr>Tinkercad – Contador no Display LCD</vt:lpstr>
      <vt:lpstr>Leitura Específica</vt:lpstr>
      <vt:lpstr>Aprenda+</vt:lpstr>
      <vt:lpstr>Dinâmica/Atividades - Exercícios</vt:lpstr>
      <vt:lpstr>Referências Bibliográficas</vt:lpstr>
      <vt:lpstr>Aplicação Cloud Indústria 40 Python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Nome da Disciplina</dc:title>
  <dc:creator>JOAO CAIRO FERREIRA</dc:creator>
  <cp:lastModifiedBy>Heleno Cardoso</cp:lastModifiedBy>
  <cp:revision>944</cp:revision>
  <dcterms:created xsi:type="dcterms:W3CDTF">2020-03-17T20:12:34Z</dcterms:created>
  <dcterms:modified xsi:type="dcterms:W3CDTF">2026-03-26T19:20:56Z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1033-11.1.0.9126</vt:lpwstr>
  </property>
</Properties>
</file>