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83" r:id="rId2"/>
    <p:sldId id="291" r:id="rId3"/>
    <p:sldId id="340" r:id="rId4"/>
    <p:sldId id="382" r:id="rId5"/>
    <p:sldId id="372" r:id="rId6"/>
    <p:sldId id="373" r:id="rId7"/>
    <p:sldId id="380" r:id="rId8"/>
    <p:sldId id="369" r:id="rId9"/>
    <p:sldId id="364" r:id="rId10"/>
    <p:sldId id="374" r:id="rId11"/>
    <p:sldId id="381" r:id="rId12"/>
    <p:sldId id="378" r:id="rId13"/>
    <p:sldId id="376" r:id="rId14"/>
    <p:sldId id="379" r:id="rId15"/>
    <p:sldId id="375" r:id="rId16"/>
    <p:sldId id="333" r:id="rId17"/>
    <p:sldId id="323" r:id="rId18"/>
    <p:sldId id="334" r:id="rId19"/>
    <p:sldId id="337" r:id="rId20"/>
    <p:sldId id="385" r:id="rId21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47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397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6218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0745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6602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7767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1903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9260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9750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0718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5628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1762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68126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4358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40510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62490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457203" y="204787"/>
            <a:ext cx="3008315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3575052" y="204789"/>
            <a:ext cx="5111749" cy="438983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8" y="1076326"/>
            <a:ext cx="3008316" cy="351829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linegdb.com/" TargetMode="External"/><Relationship Id="rId7" Type="http://schemas.openxmlformats.org/officeDocument/2006/relationships/hyperlink" Target="https://pypi.org/project/pyFirmata2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pypi.org/project/pyserial/" TargetMode="External"/><Relationship Id="rId5" Type="http://schemas.openxmlformats.org/officeDocument/2006/relationships/hyperlink" Target="https://www.programiz.com/" TargetMode="External"/><Relationship Id="rId4" Type="http://schemas.openxmlformats.org/officeDocument/2006/relationships/hyperlink" Target="https://www.online-python.co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mbarcados.com.br/tinkercad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files.comunidades.net/mutcom/ARTIGO_SIST_EMB.pd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ventos.spc.org.pe/cibse2015/pdfs/07_WER15.pd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embarcados.com.br/cursos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youtube.com/watch?v=UIAOR32H1vk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Aplicação Cloud Indústria 40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D9A56D89-1300-762A-5BD5-16B3C4E998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Aula 04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	</a:t>
            </a:r>
            <a:r>
              <a:rPr lang="pt-BR" sz="3600" b="1" dirty="0">
                <a:solidFill>
                  <a:schemeClr val="bg1"/>
                </a:solidFill>
              </a:rPr>
              <a:t>Arduino – Plataforma </a:t>
            </a:r>
            <a:r>
              <a:rPr lang="pt-BR" sz="3600" b="1" dirty="0" err="1">
                <a:solidFill>
                  <a:schemeClr val="bg1"/>
                </a:solidFill>
              </a:rPr>
              <a:t>Tinkercad</a:t>
            </a:r>
            <a:r>
              <a:rPr lang="pt-BR" sz="3600" b="1" dirty="0">
                <a:solidFill>
                  <a:schemeClr val="bg1"/>
                </a:solidFill>
              </a:rPr>
              <a:t>  Prática</a:t>
            </a:r>
            <a:br>
              <a:rPr lang="pt-BR" sz="3600" b="1" dirty="0">
                <a:solidFill>
                  <a:schemeClr val="bg1"/>
                </a:solidFill>
              </a:rPr>
            </a:br>
            <a:r>
              <a:rPr lang="pt-BR" sz="3600" b="1" dirty="0" err="1">
                <a:solidFill>
                  <a:schemeClr val="bg1"/>
                </a:solidFill>
              </a:rPr>
              <a:t>IoT</a:t>
            </a:r>
            <a:r>
              <a:rPr lang="pt-BR" sz="3600" b="1" dirty="0">
                <a:solidFill>
                  <a:schemeClr val="bg1"/>
                </a:solidFill>
              </a:rPr>
              <a:t>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4" name="Google Shape;62;p1" descr="Imagem">
            <a:extLst>
              <a:ext uri="{FF2B5EF4-FFF2-40B4-BE49-F238E27FC236}">
                <a16:creationId xmlns:a16="http://schemas.microsoft.com/office/drawing/2014/main" id="{652F850C-6AD9-5CD4-839F-152858F136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Plataforma Arduino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395222"/>
            <a:ext cx="8865056" cy="36766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Placa Arduino, Lógica de prototipagem e no software de programação.</a:t>
            </a: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Prototipagem eletrônica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soluções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Vantagens: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Baixo custo</a:t>
            </a:r>
          </a:p>
          <a:p>
            <a:pPr marL="457200" lvl="1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Simples de se aprender e Comunidade forte</a:t>
            </a:r>
          </a:p>
        </p:txBody>
      </p:sp>
    </p:spTree>
    <p:extLst>
      <p:ext uri="{BB962C8B-B14F-4D97-AF65-F5344CB8AC3E}">
        <p14:creationId xmlns:p14="http://schemas.microsoft.com/office/powerpoint/2010/main" val="161011395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Arduino Python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395222"/>
            <a:ext cx="8865056" cy="36766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Ambientes Python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https://www.onlinegdb.com/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https://www.online-python.com/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675" lvl="1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https://www.programiz.com/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(aprendizado de várias linguagens de programação)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 Python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PyCharm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VS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Sublime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Jupiter Notebook, IDLE.</a:t>
            </a:r>
          </a:p>
          <a:p>
            <a:pPr marL="0" indent="0" algn="just">
              <a:buNone/>
            </a:pP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PySerial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https://pypi.org/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project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pyserial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	 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PyFirmata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https://pypi.org/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project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/pyFirmata2/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–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</a:t>
            </a:r>
          </a:p>
        </p:txBody>
      </p:sp>
    </p:spTree>
    <p:extLst>
      <p:ext uri="{BB962C8B-B14F-4D97-AF65-F5344CB8AC3E}">
        <p14:creationId xmlns:p14="http://schemas.microsoft.com/office/powerpoint/2010/main" val="291666462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Plataforma Arduino </a:t>
            </a:r>
            <a:r>
              <a:rPr lang="en-US" b="1" dirty="0" err="1">
                <a:solidFill>
                  <a:srgbClr val="0070C0"/>
                </a:solidFill>
              </a:rPr>
              <a:t>Tinkercad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27280" y="953502"/>
            <a:ext cx="8865056" cy="408179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Tipos de Arduino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UNO R3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(mais conhecido e utilizado)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 (menor Arduino)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MEGA (possui mais portas) –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chip SMB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soldado na placa</a:t>
            </a:r>
          </a:p>
          <a:p>
            <a:pPr algn="just"/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99579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Plataforma Arduino </a:t>
            </a:r>
            <a:r>
              <a:rPr lang="en-US" b="1" dirty="0" err="1">
                <a:solidFill>
                  <a:srgbClr val="0070C0"/>
                </a:solidFill>
              </a:rPr>
              <a:t>Tinkercad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27280" y="953502"/>
            <a:ext cx="8865056" cy="408179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UNO, componentes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Alimentação(9v a 16v) e comunicação (USB) com o computador e o software;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Microcontrolador;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Cristal Oscilador (frequência 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timer);</a:t>
            </a:r>
          </a:p>
          <a:p>
            <a:pPr algn="just"/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Pinos digitais (sensor, leds, luzes,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portas digitais, portas analógicas.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09914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Plataforma Arduino </a:t>
            </a:r>
            <a:r>
              <a:rPr lang="en-US" b="1" dirty="0" err="1">
                <a:solidFill>
                  <a:srgbClr val="0070C0"/>
                </a:solidFill>
              </a:rPr>
              <a:t>Tinkercad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27280" y="953502"/>
            <a:ext cx="8865056" cy="408179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Técnicas de Programação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Diretivas e Bibliotecas</a:t>
            </a:r>
          </a:p>
          <a:p>
            <a:pPr algn="just"/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Setup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preparação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e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Loop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repetição das instruções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Constantes/Variáveis;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Estruturas de Repetição: For;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Do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Estruturas Condicionais: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case</a:t>
            </a: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Saídas Digitais: OUTPUT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controlar os objetos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Entradas Digitais: INPUT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 os componentes, sensores, sinais,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Entradas/Saídas Analógicas: A0 a A5</a:t>
            </a:r>
          </a:p>
          <a:p>
            <a:pPr algn="just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Funções</a:t>
            </a:r>
          </a:p>
        </p:txBody>
      </p:sp>
    </p:spTree>
    <p:extLst>
      <p:ext uri="{BB962C8B-B14F-4D97-AF65-F5344CB8AC3E}">
        <p14:creationId xmlns:p14="http://schemas.microsoft.com/office/powerpoint/2010/main" val="250129645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Plataforma Arduino </a:t>
            </a:r>
            <a:r>
              <a:rPr lang="en-US" b="1" dirty="0" err="1">
                <a:solidFill>
                  <a:srgbClr val="0070C0"/>
                </a:solidFill>
              </a:rPr>
              <a:t>Tinkercad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38784"/>
            <a:ext cx="8865056" cy="391466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3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https://embarcados.com.br/tinkercad/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C3DC84B-0383-9EFC-0BC1-FB70E21A1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65" y="1063231"/>
            <a:ext cx="7297994" cy="352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1893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Tinkercad</a:t>
            </a:r>
            <a:r>
              <a:rPr lang="en-US" b="1" dirty="0">
                <a:solidFill>
                  <a:srgbClr val="0070C0"/>
                </a:solidFill>
              </a:rPr>
              <a:t> – Código </a:t>
            </a:r>
            <a:r>
              <a:rPr lang="en-US" b="1" dirty="0" err="1">
                <a:solidFill>
                  <a:srgbClr val="0070C0"/>
                </a:solidFill>
              </a:rPr>
              <a:t>Básico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92886"/>
            <a:ext cx="8865056" cy="394463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 circuitos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cria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NOVO circuito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Seção de Configuração -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Uno R3,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pino 13 default</a:t>
            </a:r>
          </a:p>
          <a:p>
            <a:pPr marL="0" indent="0" algn="just">
              <a:buNone/>
            </a:pP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() { </a:t>
            </a:r>
          </a:p>
          <a:p>
            <a:pPr marL="0" indent="0" algn="just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(LED_BUILTIN,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} //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Saída Digital, pino 13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BR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Seção da Aplicação</a:t>
            </a:r>
          </a:p>
          <a:p>
            <a:pPr marL="0" indent="0" algn="just">
              <a:buNone/>
            </a:pP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{ //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Acende e desliga o led ligado ao pino 13, num intervalo de 1s</a:t>
            </a:r>
          </a:p>
          <a:p>
            <a:pPr marL="0" indent="0" algn="just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(LED_BUILTIN,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indent="0" algn="just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delay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(1000); </a:t>
            </a:r>
          </a:p>
          <a:p>
            <a:pPr marL="0" indent="0" algn="just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(LED_BUILTIN,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indent="0" algn="just">
              <a:buNone/>
            </a:pP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delay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(1000); }</a:t>
            </a:r>
          </a:p>
        </p:txBody>
      </p:sp>
    </p:spTree>
    <p:extLst>
      <p:ext uri="{BB962C8B-B14F-4D97-AF65-F5344CB8AC3E}">
        <p14:creationId xmlns:p14="http://schemas.microsoft.com/office/powerpoint/2010/main" val="339541386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Passos</a:t>
            </a:r>
            <a:r>
              <a:rPr lang="en-US" b="1" dirty="0">
                <a:solidFill>
                  <a:srgbClr val="0070C0"/>
                </a:solidFill>
              </a:rPr>
              <a:t> p/ </a:t>
            </a:r>
            <a:r>
              <a:rPr lang="en-US" b="1" dirty="0" err="1">
                <a:solidFill>
                  <a:srgbClr val="0070C0"/>
                </a:solidFill>
              </a:rPr>
              <a:t>Criar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Projetos</a:t>
            </a:r>
            <a:r>
              <a:rPr lang="en-US" b="1" dirty="0">
                <a:solidFill>
                  <a:srgbClr val="0070C0"/>
                </a:solidFill>
              </a:rPr>
              <a:t> no </a:t>
            </a:r>
            <a:r>
              <a:rPr lang="en-US" b="1" dirty="0" err="1">
                <a:solidFill>
                  <a:srgbClr val="0070C0"/>
                </a:solidFill>
              </a:rPr>
              <a:t>Tinkercad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14400"/>
            <a:ext cx="8865056" cy="386486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Criar um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NOVO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projeto do tipo 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Adicionar o Arduino UNO R3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Abrir a aba Código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Mudar para a 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programação texto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Codificar se necessário conforme a solução do projeto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Testar solução no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Setup e </a:t>
            </a:r>
            <a:r>
              <a:rPr lang="pt-B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Loop</a:t>
            </a:r>
          </a:p>
        </p:txBody>
      </p:sp>
    </p:spTree>
    <p:extLst>
      <p:ext uri="{BB962C8B-B14F-4D97-AF65-F5344CB8AC3E}">
        <p14:creationId xmlns:p14="http://schemas.microsoft.com/office/powerpoint/2010/main" val="414654969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Tinkercad</a:t>
            </a:r>
            <a:r>
              <a:rPr lang="en-US" b="1" dirty="0">
                <a:solidFill>
                  <a:srgbClr val="0070C0"/>
                </a:solidFill>
              </a:rPr>
              <a:t> – Hello World no Monitor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14400"/>
            <a:ext cx="8865056" cy="38648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tempo 1000</a:t>
            </a:r>
          </a:p>
          <a:p>
            <a:pPr marL="0" indent="0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(LED_BUILTIN,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9600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//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baud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rate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Serial.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pt-BR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World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”);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baud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velocidade de comunicação o computador,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taxa em bps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790EAA-BD40-6646-0955-2EDBC47F45A4}"/>
              </a:ext>
            </a:extLst>
          </p:cNvPr>
          <p:cNvSpPr txBox="1"/>
          <p:nvPr/>
        </p:nvSpPr>
        <p:spPr>
          <a:xfrm>
            <a:off x="4362770" y="1706125"/>
            <a:ext cx="4645151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(LED_BUILTIN,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1000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(LED_BUILTIN,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1000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43496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Tinkercad</a:t>
            </a:r>
            <a:r>
              <a:rPr lang="en-US" b="1" dirty="0">
                <a:solidFill>
                  <a:srgbClr val="0070C0"/>
                </a:solidFill>
              </a:rPr>
              <a:t> – Led Blink, </a:t>
            </a:r>
            <a:r>
              <a:rPr lang="en-US" b="1" dirty="0" err="1">
                <a:solidFill>
                  <a:srgbClr val="0070C0"/>
                </a:solidFill>
              </a:rPr>
              <a:t>pino</a:t>
            </a:r>
            <a:r>
              <a:rPr lang="en-US" b="1" dirty="0">
                <a:solidFill>
                  <a:srgbClr val="0070C0"/>
                </a:solidFill>
              </a:rPr>
              <a:t> 12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14400"/>
            <a:ext cx="8865056" cy="38648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tempo 1000</a:t>
            </a:r>
          </a:p>
          <a:p>
            <a:pPr marL="0" indent="0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pinoLed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12;</a:t>
            </a:r>
          </a:p>
          <a:p>
            <a:pPr marL="0" indent="0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pinoLed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OUTPUT); 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Pode utilizar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resistor (ohms)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limitador de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corrente elétrica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LED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pino </a:t>
            </a:r>
            <a:r>
              <a:rPr lang="pt-B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cátodo (-) ligar no resistor ou GND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anodo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(+) ligar no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pino digital.</a:t>
            </a:r>
          </a:p>
          <a:p>
            <a:pPr marL="0" indent="0">
              <a:buNone/>
            </a:pP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790EAA-BD40-6646-0955-2EDBC47F45A4}"/>
              </a:ext>
            </a:extLst>
          </p:cNvPr>
          <p:cNvSpPr txBox="1"/>
          <p:nvPr/>
        </p:nvSpPr>
        <p:spPr>
          <a:xfrm>
            <a:off x="3456432" y="2017455"/>
            <a:ext cx="5544703" cy="25545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pinoLed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1000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pinoLed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1000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6349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Tinkercad</a:t>
            </a:r>
            <a:r>
              <a:rPr lang="en-US" b="1" dirty="0">
                <a:solidFill>
                  <a:srgbClr val="0070C0"/>
                </a:solidFill>
              </a:rPr>
              <a:t> – </a:t>
            </a:r>
            <a:r>
              <a:rPr lang="en-US" b="1" dirty="0" err="1">
                <a:solidFill>
                  <a:srgbClr val="0070C0"/>
                </a:solidFill>
              </a:rPr>
              <a:t>Piscar</a:t>
            </a:r>
            <a:r>
              <a:rPr lang="en-US" b="1" dirty="0">
                <a:solidFill>
                  <a:srgbClr val="0070C0"/>
                </a:solidFill>
              </a:rPr>
              <a:t> 4 </a:t>
            </a:r>
            <a:r>
              <a:rPr lang="en-US" b="1" dirty="0" err="1">
                <a:solidFill>
                  <a:srgbClr val="0070C0"/>
                </a:solidFill>
              </a:rPr>
              <a:t>Leds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14400"/>
            <a:ext cx="8865056" cy="38648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tempo 1000</a:t>
            </a:r>
          </a:p>
          <a:p>
            <a:pPr marL="0" indent="0">
              <a:buNone/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pinoLed9 = 9;</a:t>
            </a:r>
          </a:p>
          <a:p>
            <a:pPr marL="0" indent="0">
              <a:buNone/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pinoLed10 = 10;</a:t>
            </a:r>
          </a:p>
          <a:p>
            <a:pPr marL="0" indent="0">
              <a:buNone/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pinoLed11 = 11;</a:t>
            </a:r>
          </a:p>
          <a:p>
            <a:pPr marL="0" indent="0">
              <a:buNone/>
            </a:pP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pinoLed12 = 12;</a:t>
            </a:r>
          </a:p>
          <a:p>
            <a:pPr marL="0" indent="0">
              <a:buNone/>
            </a:pP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(pinoLed9,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(pinoLed10,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(pinoLed11,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(pinoLed12,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}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790EAA-BD40-6646-0955-2EDBC47F45A4}"/>
              </a:ext>
            </a:extLst>
          </p:cNvPr>
          <p:cNvSpPr txBox="1"/>
          <p:nvPr/>
        </p:nvSpPr>
        <p:spPr>
          <a:xfrm>
            <a:off x="3142097" y="914400"/>
            <a:ext cx="5544703" cy="3970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1000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(pinoLed9, HIGH);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1000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(pinoLed9, LOW);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1000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(pinoLed10, HIGH);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1000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(pinoLed10, LOW);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1000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(pinoLed11, HIGH);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1000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(pinoLed11, LOW);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1000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(pinoLed12, HIGH);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1000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(pinoLed12, LOW);</a:t>
            </a:r>
          </a:p>
          <a:p>
            <a:pPr marL="0" indent="0">
              <a:buNone/>
            </a:pP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1000 </a:t>
            </a:r>
            <a:r>
              <a:rPr lang="pt-B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     }</a:t>
            </a:r>
          </a:p>
        </p:txBody>
      </p:sp>
    </p:spTree>
    <p:extLst>
      <p:ext uri="{BB962C8B-B14F-4D97-AF65-F5344CB8AC3E}">
        <p14:creationId xmlns:p14="http://schemas.microsoft.com/office/powerpoint/2010/main" val="324776315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Tinkercad</a:t>
            </a:r>
            <a:r>
              <a:rPr lang="en-US" b="1" dirty="0">
                <a:solidFill>
                  <a:srgbClr val="0070C0"/>
                </a:solidFill>
              </a:rPr>
              <a:t> – </a:t>
            </a:r>
            <a:r>
              <a:rPr lang="en-US" b="1" dirty="0" err="1">
                <a:solidFill>
                  <a:srgbClr val="0070C0"/>
                </a:solidFill>
              </a:rPr>
              <a:t>Lâmpada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14400"/>
            <a:ext cx="8865056" cy="41208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tempo 1000				// https://youtu.be/vB6_cf0G3VM</a:t>
            </a:r>
          </a:p>
          <a:p>
            <a:pPr marL="0" indent="0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pinoLed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12	// https://www.youtube.com/shorts/juxRSrEHPBo?feature=share</a:t>
            </a:r>
          </a:p>
          <a:p>
            <a:pPr marL="0" indent="0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pinMode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pinoLed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Adicionar ao Projeto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R3</a:t>
            </a:r>
          </a:p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Lâmpada</a:t>
            </a:r>
          </a:p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Bateria de 9V</a:t>
            </a:r>
          </a:p>
          <a:p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Relé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SPDT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(p/ open/close circuito)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790EAA-BD40-6646-0955-2EDBC47F45A4}"/>
              </a:ext>
            </a:extLst>
          </p:cNvPr>
          <p:cNvSpPr txBox="1"/>
          <p:nvPr/>
        </p:nvSpPr>
        <p:spPr>
          <a:xfrm>
            <a:off x="3675889" y="1661923"/>
            <a:ext cx="5230368" cy="25545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pinoLed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1000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digitalWrite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pinoLed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1000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D2E68B4-0FB0-8A4A-0B47-A3E79F02C2FF}"/>
              </a:ext>
            </a:extLst>
          </p:cNvPr>
          <p:cNvSpPr txBox="1"/>
          <p:nvPr/>
        </p:nvSpPr>
        <p:spPr>
          <a:xfrm>
            <a:off x="3822192" y="3557968"/>
            <a:ext cx="4572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ATENÇÃO Ligação do Relé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1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ligar na bateria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5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ligar no pino 12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6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ligar na lâmpada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8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ligar no GND digital</a:t>
            </a:r>
          </a:p>
        </p:txBody>
      </p:sp>
    </p:spTree>
    <p:extLst>
      <p:ext uri="{BB962C8B-B14F-4D97-AF65-F5344CB8AC3E}">
        <p14:creationId xmlns:p14="http://schemas.microsoft.com/office/powerpoint/2010/main" val="80376014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Tinkercad</a:t>
            </a:r>
            <a:r>
              <a:rPr lang="en-US" b="1" dirty="0">
                <a:solidFill>
                  <a:srgbClr val="0070C0"/>
                </a:solidFill>
              </a:rPr>
              <a:t> – Contador no Display LCD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14399"/>
            <a:ext cx="8865056" cy="41054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Adafruit_LiquidCrystal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.h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tempo 800</a:t>
            </a:r>
          </a:p>
          <a:p>
            <a:pPr marL="0" indent="0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cont_segs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>
                <a:latin typeface="Times New Roman" panose="02020603050405020304" pitchFamily="18" charset="0"/>
                <a:cs typeface="Times New Roman" panose="02020603050405020304" pitchFamily="18" charset="0"/>
              </a:rPr>
              <a:t>= 1;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contador de segundos</a:t>
            </a:r>
          </a:p>
          <a:p>
            <a:pPr marL="0" indent="0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Adafruit_LiquidCrystal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lcd_1(0);</a:t>
            </a:r>
          </a:p>
          <a:p>
            <a:pPr marL="0" indent="0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lcd_1.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(16, 2);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lcd_1.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</a:t>
            </a:r>
            <a:r>
              <a:rPr lang="pt-B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Senha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 }</a:t>
            </a:r>
          </a:p>
          <a:p>
            <a:pPr marL="0" indent="0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790EAA-BD40-6646-0955-2EDBC47F45A4}"/>
              </a:ext>
            </a:extLst>
          </p:cNvPr>
          <p:cNvSpPr txBox="1"/>
          <p:nvPr/>
        </p:nvSpPr>
        <p:spPr>
          <a:xfrm>
            <a:off x="3980687" y="2465342"/>
            <a:ext cx="4919473" cy="255454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lcd_1.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setCursor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1);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lcd_1.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cont_segs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lcd_1.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setBacklight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(1);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aguarda 800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lcd_1.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setBacklight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(0);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(tempo); // aguarda 800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millisecond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(s)</a:t>
            </a:r>
          </a:p>
          <a:p>
            <a:pPr marL="0" indent="0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cont_segs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1; }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60802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6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Sistemas Embarcados.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https://files.comunidades.net/mutcom/ARTIGO_SIST_EMB.pdf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Elicitação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Especificação de Requisitos Sistemas Embarcados. 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https://eventos.spc.org.pe/cibse2015/pdfs/07_WER15.pdf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Cursos Sistemas Embarcados - Microcontroladores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https://embarcados.com.br/cursos/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Arquitetura de Software para Sistemas Embarcados</a:t>
            </a:r>
          </a:p>
          <a:p>
            <a:pPr marL="0" indent="0" algn="just">
              <a:buNone/>
            </a:pP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https://www.youtube.com/watch?v=UIAOR32H1vk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r>
              <a:rPr lang="en-US" b="1" dirty="0">
                <a:solidFill>
                  <a:srgbClr val="0070C0"/>
                </a:solidFill>
              </a:rPr>
              <a:t> - </a:t>
            </a:r>
            <a:r>
              <a:rPr lang="en-US" b="1" dirty="0" err="1">
                <a:solidFill>
                  <a:srgbClr val="0070C0"/>
                </a:solidFill>
              </a:rPr>
              <a:t>Exercícios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9964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Criar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para: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Imprimir na porta serial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World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Monitor;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Fazer um led piscar no pino 12,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Blink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Fazer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piscar 4 Leds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Acender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uma Lâmpada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Contador no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LCD I2C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Otimizar o código do projeto 3 utilizando estrutura de repetição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Projeto Livre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(Teams)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Elaborar um QUIZ com 05 (cinco) perguntas/respostas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65298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6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dirty="0">
                <a:latin typeface="Calibri" panose="020F0502020204030204" pitchFamily="34" charset="0"/>
              </a:rPr>
              <a:t>[1] </a:t>
            </a:r>
            <a:r>
              <a:rPr lang="pt-BR" sz="1800" b="1" dirty="0">
                <a:latin typeface="Calibri" panose="020F0502020204030204" pitchFamily="34" charset="0"/>
              </a:rPr>
              <a:t>OSSADA, Jaime </a:t>
            </a:r>
            <a:r>
              <a:rPr lang="pt-BR" sz="1800" b="1" dirty="0" err="1">
                <a:latin typeface="Calibri" panose="020F0502020204030204" pitchFamily="34" charset="0"/>
              </a:rPr>
              <a:t>Cazuhiro</a:t>
            </a:r>
            <a:r>
              <a:rPr lang="pt-BR" sz="1800" b="1" dirty="0">
                <a:latin typeface="Calibri" panose="020F0502020204030204" pitchFamily="34" charset="0"/>
              </a:rPr>
              <a:t> et al. GERSE</a:t>
            </a:r>
            <a:r>
              <a:rPr lang="pt-BR" sz="1800" dirty="0">
                <a:latin typeface="Calibri" panose="020F0502020204030204" pitchFamily="34" charset="0"/>
              </a:rPr>
              <a:t>: Guia de </a:t>
            </a:r>
            <a:r>
              <a:rPr lang="pt-BR" sz="1800" dirty="0" err="1">
                <a:latin typeface="Calibri" panose="020F0502020204030204" pitchFamily="34" charset="0"/>
              </a:rPr>
              <a:t>Elicitação</a:t>
            </a:r>
            <a:r>
              <a:rPr lang="pt-BR" sz="1800" dirty="0">
                <a:latin typeface="Calibri" panose="020F0502020204030204" pitchFamily="34" charset="0"/>
              </a:rPr>
              <a:t> de Requisitos para Sistemas Embarcados. In: WER. 2012.</a:t>
            </a:r>
          </a:p>
          <a:p>
            <a:pPr marL="0" indent="0" algn="just">
              <a:buNone/>
            </a:pPr>
            <a:endParaRPr lang="pt-BR" sz="1800" dirty="0">
              <a:latin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Calibri" panose="020F0502020204030204" pitchFamily="34" charset="0"/>
              </a:rPr>
              <a:t>[2] </a:t>
            </a:r>
            <a:r>
              <a:rPr lang="pt-BR" sz="1800" b="1" dirty="0">
                <a:latin typeface="Calibri" panose="020F0502020204030204" pitchFamily="34" charset="0"/>
              </a:rPr>
              <a:t>BARBIERO, Andréia Aparecida; HEXSEL, Roberto André.</a:t>
            </a:r>
            <a:r>
              <a:rPr lang="pt-BR" sz="1800" dirty="0">
                <a:latin typeface="Calibri" panose="020F0502020204030204" pitchFamily="34" charset="0"/>
              </a:rPr>
              <a:t> </a:t>
            </a:r>
            <a:r>
              <a:rPr lang="pt-BR" sz="1800" dirty="0" err="1">
                <a:latin typeface="Calibri" panose="020F0502020204030204" pitchFamily="34" charset="0"/>
              </a:rPr>
              <a:t>Simulaçao</a:t>
            </a:r>
            <a:r>
              <a:rPr lang="pt-BR" sz="1800" dirty="0">
                <a:latin typeface="Calibri" panose="020F0502020204030204" pitchFamily="34" charset="0"/>
              </a:rPr>
              <a:t> de Sistemas Embarcados utilizando </a:t>
            </a:r>
            <a:r>
              <a:rPr lang="pt-BR" sz="1800" dirty="0" err="1">
                <a:latin typeface="Calibri" panose="020F0502020204030204" pitchFamily="34" charset="0"/>
              </a:rPr>
              <a:t>ArchC</a:t>
            </a:r>
            <a:r>
              <a:rPr lang="pt-BR" sz="1800" dirty="0">
                <a:latin typeface="Calibri" panose="020F0502020204030204" pitchFamily="34" charset="0"/>
              </a:rPr>
              <a:t>. In: Anais do VII Workshop em Sistemas Computacionais de Alto Desempenho. SBC, 2006. p. 17-24.</a:t>
            </a:r>
          </a:p>
          <a:p>
            <a:pPr marL="0" indent="0" algn="just">
              <a:buNone/>
            </a:pPr>
            <a:endParaRPr lang="pt-BR" sz="1800" dirty="0">
              <a:latin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CUNHA, Alessandro F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 que são sistemas embarcados. Saber Eletrônica, v. 43, n. 414, p. 1-6, 2007.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OSSADA, Jaime </a:t>
            </a:r>
            <a:r>
              <a:rPr lang="pt-B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Cazuhiro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GERSE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Guia de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Elicitação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Requisitos para Sistemas Embarcados. In: WER. 2012.</a:t>
            </a:r>
          </a:p>
          <a:p>
            <a:pPr marL="0" indent="0" algn="just">
              <a:buNone/>
            </a:pP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Aplicação Cloud Indústria 40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D9A56D89-1300-762A-5BD5-16B3C4E998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828787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5010</TotalTime>
  <Words>1521</Words>
  <Application>Microsoft Office PowerPoint</Application>
  <PresentationFormat>Apresentação na tela (16:9)</PresentationFormat>
  <Paragraphs>229</Paragraphs>
  <Slides>20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Office Theme</vt:lpstr>
      <vt:lpstr>Aplicação Cloud Indústria 40 Python</vt:lpstr>
      <vt:lpstr> Aula 04  Arduino – Plataforma Tinkercad  Prática IoT Python</vt:lpstr>
      <vt:lpstr>Plataforma Arduino</vt:lpstr>
      <vt:lpstr>Arduino Python</vt:lpstr>
      <vt:lpstr>Plataforma Arduino Tinkercad</vt:lpstr>
      <vt:lpstr>Plataforma Arduino Tinkercad</vt:lpstr>
      <vt:lpstr>Plataforma Arduino Tinkercad</vt:lpstr>
      <vt:lpstr>Plataforma Arduino Tinkercad</vt:lpstr>
      <vt:lpstr>Tinkercad – Código Básico</vt:lpstr>
      <vt:lpstr>Passos p/ Criar Projetos no Tinkercad</vt:lpstr>
      <vt:lpstr>Tinkercad – Hello World no Monitor</vt:lpstr>
      <vt:lpstr>Tinkercad – Led Blink, pino 12</vt:lpstr>
      <vt:lpstr>Tinkercad – Piscar 4 Leds</vt:lpstr>
      <vt:lpstr>Tinkercad – Lâmpada</vt:lpstr>
      <vt:lpstr>Tinkercad – Contador no Display LCD</vt:lpstr>
      <vt:lpstr>Leitura Específica</vt:lpstr>
      <vt:lpstr>Aprenda+</vt:lpstr>
      <vt:lpstr>Dinâmica/Atividades - Exercícios</vt:lpstr>
      <vt:lpstr>Referências Bibliográficas</vt:lpstr>
      <vt:lpstr>Aplicação Cloud Indústria 40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940</cp:revision>
  <dcterms:created xsi:type="dcterms:W3CDTF">2020-03-17T20:12:34Z</dcterms:created>
  <dcterms:modified xsi:type="dcterms:W3CDTF">2026-03-25T21:39:54Z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