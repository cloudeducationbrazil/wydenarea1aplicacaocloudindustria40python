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91" r:id="rId3"/>
    <p:sldId id="347" r:id="rId4"/>
    <p:sldId id="349" r:id="rId5"/>
    <p:sldId id="358" r:id="rId6"/>
    <p:sldId id="359" r:id="rId7"/>
    <p:sldId id="360" r:id="rId8"/>
    <p:sldId id="361" r:id="rId9"/>
    <p:sldId id="362" r:id="rId10"/>
    <p:sldId id="364" r:id="rId11"/>
    <p:sldId id="365" r:id="rId12"/>
    <p:sldId id="348" r:id="rId13"/>
    <p:sldId id="350" r:id="rId14"/>
    <p:sldId id="351" r:id="rId15"/>
    <p:sldId id="355" r:id="rId16"/>
    <p:sldId id="352" r:id="rId17"/>
    <p:sldId id="353" r:id="rId18"/>
    <p:sldId id="354" r:id="rId19"/>
    <p:sldId id="356" r:id="rId20"/>
    <p:sldId id="357" r:id="rId21"/>
    <p:sldId id="366" r:id="rId22"/>
    <p:sldId id="333" r:id="rId23"/>
    <p:sldId id="323" r:id="rId24"/>
    <p:sldId id="345" r:id="rId25"/>
    <p:sldId id="337" r:id="rId26"/>
    <p:sldId id="309" r:id="rId27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Ênfase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7397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289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15512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7149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3849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2888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11776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119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97225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6546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4483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9802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3497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631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30870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9191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9998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1300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658611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91556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5304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095695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35160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0351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esoft.com/SimpleIoTSimulator.html?gclid=CjwKCAjw3ueiBhBmEiwA4BhspBMZ7OIyqMAjqQCFmNxWjYrttAomFtard9wRgFrmU5BNxq_NTZ5gBhoCwqAQAvD_Bw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pt/iot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hyperlink" Target="https://aws.amazon.com/pt/iot/https:/docs.aws.amazon.com/pt_br/iot/latest/developerguide/connect-to-iot.html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cisionreport.com.br/mercado/5g-iot-e-ot-desafiam-o-profissional-brasileiro-de-ti-a-se-reinventar-em-2022/#.ZFpzSnbMLIU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eletime.com.br/19/10/2022/embratel-ve-parcerias-e-integracao-com-5g-como-o-futuro-de-produtos-corporativos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deloitte.com/content/dam/Deloitte/global/Documents/Risk/gx-deloitte-managing-the-successful-convergence-of-it-and-ot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teletime.com.br/28/04/2023/a-virada-de-chave-representada-pelas-redes-privativas-de-5g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_DRb0kiJ7y4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blog.xpeducacao.com.br/cloud-computing/" TargetMode="External"/><Relationship Id="rId5" Type="http://schemas.openxmlformats.org/officeDocument/2006/relationships/hyperlink" Target="https://youtu.be/FpT4XoqVBbE" TargetMode="External"/><Relationship Id="rId4" Type="http://schemas.openxmlformats.org/officeDocument/2006/relationships/hyperlink" Target="https://www.abovenet.com.br/index.php/solucoes-1/monitoramento-e-interoperabilidade/ioticity-m2m-iot-cloud-2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quizizz.com/admin/quiz/60f78466d39a67001f78953a/iot-cloud-computin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youtu.be/eo9i6B4XHjc" TargetMode="External"/><Relationship Id="rId4" Type="http://schemas.openxmlformats.org/officeDocument/2006/relationships/hyperlink" Target="https://www.surveymonkey.com/r/D78ZYG5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D9A56D89-1300-762A-5BD5-16B3C4E9985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48258" y="2277667"/>
            <a:ext cx="8681444" cy="1102519"/>
          </a:xfrm>
        </p:spPr>
        <p:txBody>
          <a:bodyPr>
            <a:noAutofit/>
          </a:bodyPr>
          <a:lstStyle/>
          <a:p>
            <a:pPr algn="l"/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Aula 09</a:t>
            </a:r>
            <a:br>
              <a:rPr lang="pt-BR" b="1" dirty="0">
                <a:solidFill>
                  <a:schemeClr val="bg1"/>
                </a:solidFill>
              </a:rPr>
            </a:br>
            <a:r>
              <a:rPr lang="pt-BR" b="1" dirty="0">
                <a:solidFill>
                  <a:schemeClr val="bg1"/>
                </a:solidFill>
              </a:rPr>
              <a:t>	</a:t>
            </a:r>
            <a:r>
              <a:rPr lang="pt-BR" sz="3600" b="1" dirty="0">
                <a:solidFill>
                  <a:schemeClr val="bg1"/>
                </a:solidFill>
              </a:rPr>
              <a:t>Integração Cloud </a:t>
            </a:r>
            <a:r>
              <a:rPr lang="pt-BR" sz="3600" b="1" dirty="0" err="1">
                <a:solidFill>
                  <a:schemeClr val="bg1"/>
                </a:solidFill>
              </a:rPr>
              <a:t>IoT</a:t>
            </a:r>
            <a:r>
              <a:rPr lang="pt-BR" sz="3600" b="1">
                <a:solidFill>
                  <a:schemeClr val="bg1"/>
                </a:solidFill>
              </a:rPr>
              <a:t> e Características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4" name="Google Shape;62;p1" descr="Imagem">
            <a:extLst>
              <a:ext uri="{FF2B5EF4-FFF2-40B4-BE49-F238E27FC236}">
                <a16:creationId xmlns:a16="http://schemas.microsoft.com/office/drawing/2014/main" id="{652F850C-6AD9-5CD4-839F-152858F1361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empresa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Gartner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define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“a rede de objetos físicos que contém tecnologia incorporada para comunicar e sentir ou interagir com seus estados internos e/ou com o ambiente externo”.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uma escala mais ampla, com a conexão extrema, poderemos chegar às tão desejadas "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cidades inteligentes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que podem reduzir desperdícios, organizar o trânsito e melhorar a eficiência do uso de combustíveis.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Basicamente, eles usam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enviar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receber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por vários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protocolos de comunicação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44247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Essas “coisas”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conectadas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podem, por exemplo, usar nossos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 de entrada para a web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conectar-se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alguma outra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peça de hardware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 nossas casas, que atue como um hub, ou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conectar-se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diretamente por meio do nosso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conectados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costumam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enviar dados para servidores de computação em nuvem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onde são agregados e analisados.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Geralmente, podemos acessar os resultados por meio de aplicativos ou navegadores em nossos dispositivos móveis.</a:t>
            </a:r>
          </a:p>
        </p:txBody>
      </p:sp>
    </p:spTree>
    <p:extLst>
      <p:ext uri="{BB962C8B-B14F-4D97-AF65-F5344CB8AC3E}">
        <p14:creationId xmlns:p14="http://schemas.microsoft.com/office/powerpoint/2010/main" val="356398479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são muitas vezes chamados de "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inteligentes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ou "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conectados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Eles comunicam dois tipos de dados: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telemetria e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Telemetria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Todos os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de eventos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(como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medições sobre o ambiente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enviados dos dispositivos para a nuvem. Os dados de telemetria enviados de um dispositivo para a nuvem são chamados de dados de "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evento de telemetria do dispositivo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302089451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Você pode usar as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soluções de Big Data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provedores Cloud para analisar os dados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telemetria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Estado do Dispositivo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blob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dados arbitrário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definido pelo usuário que descreve o status atual do dispositivo.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dados de estado do dispositivo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podem ser estruturados ou não e fluem apenas do dispositivo para a nuvem.</a:t>
            </a:r>
          </a:p>
        </p:txBody>
      </p:sp>
    </p:spTree>
    <p:extLst>
      <p:ext uri="{BB962C8B-B14F-4D97-AF65-F5344CB8AC3E}">
        <p14:creationId xmlns:p14="http://schemas.microsoft.com/office/powerpoint/2010/main" val="109706258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dispositivos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serviço que você usa para monitorar a integridade e a atividade do dispositivo,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atualizar as configurações e gerenciar as credenciais e a autenticação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 de mensagens de publicação/inscrição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pub/sub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protocolo de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padrão do setor (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Telemetry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https://www.simplesoft.com/SimpleIoTSimulator.html?gclid=CjwKCAjw3ueiBhBmEiwA4BhspBMZ7OIyqMAjqQCFmNxWjYrttAomFtard9wRgFrmU5BNxq_NTZ5gBhoCwqAQAvD_BwE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72117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Características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Componentes</a:t>
            </a: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principais componentes do Cloud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Core são 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dispositivos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pontes de protocolos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gerenciador de dispositivos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registra dispositivos no serviço para que você possa monitorá-los e configurá-los.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duas pontes de protocolos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MQTT e HTTP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são usadas pelos dispositivos para a conexão com o provedor cloud.</a:t>
            </a:r>
          </a:p>
        </p:txBody>
      </p:sp>
    </p:spTree>
    <p:extLst>
      <p:ext uri="{BB962C8B-B14F-4D97-AF65-F5344CB8AC3E}">
        <p14:creationId xmlns:p14="http://schemas.microsoft.com/office/powerpoint/2010/main" val="1977870132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GCP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29578A-6EC7-52ED-A9ED-DD38A3C90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10" y="1006964"/>
            <a:ext cx="6958284" cy="405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242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GCP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21211C-3458-F3E6-42F3-2622DA769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060" y="940360"/>
            <a:ext cx="4576830" cy="416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5404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Integração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– AWS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942570"/>
            <a:ext cx="8865056" cy="39949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https://aws.amazon.com/pt/iot/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https://aws.amazon.com/pt/iot/https://docs.aws.amazon.com/pt_br/iot/latest/developerguide/connect-to-iot.html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28EDA9B-5A69-5B2F-F02A-2226F8BF7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0687" y="942570"/>
            <a:ext cx="5749814" cy="335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172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Impactos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nas Empresa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Maior visibilidade em todo o processo de atendimento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permitindo que os varejistas acompanhem os pedidos desde o momento em que são realizados até chegarem aos consumidores;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Fabricantes de bens duráveis podem aproveitar a conectividade para estabelecer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relacionamentos de longo prazo com os consumidores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oferecendo serviços auxiliares, como manutenção preditiva e análise de desempenho;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Mais dados a partir dos quais os profissionais de marketing podem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obter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informações sobre o comportamento do consumidor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levando a websites mais intuitivos e personalizados para o consumidor individual;</a:t>
            </a:r>
          </a:p>
        </p:txBody>
      </p:sp>
    </p:spTree>
    <p:extLst>
      <p:ext uri="{BB962C8B-B14F-4D97-AF65-F5344CB8AC3E}">
        <p14:creationId xmlns:p14="http://schemas.microsoft.com/office/powerpoint/2010/main" val="424026689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Impactos Cloud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nas Empresa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 engajamento com o cliente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 que inclui comunicação e recomendações personalizados a partir do uso de dispositivos conectados;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Melhoria no poder analítico dos negócios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podem captar dados e gerar insights a partir da percepção de padrões;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Facilidades para a inovação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uma vez que a alta conectividade permite combinações que podem gerar valor em processos, produtos e serviços.</a:t>
            </a:r>
          </a:p>
        </p:txBody>
      </p:sp>
    </p:spTree>
    <p:extLst>
      <p:ext uri="{BB962C8B-B14F-4D97-AF65-F5344CB8AC3E}">
        <p14:creationId xmlns:p14="http://schemas.microsoft.com/office/powerpoint/2010/main" val="39636782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Relação da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com Cloud Computer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suporta 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torna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realmente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efetiva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fornece a capacidade de utilizar os recursos de computação e armazenamento sob demanda, de forma flexível e com a mobilidade necessária.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Considere que você tem um conjunto de mil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sua fábrica. Eles conseguem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medir vários tipos de dados,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emissão de poluentes até a detecção de intrusão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(os sensores são as “coisas” da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Imagine 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quantidade de dados gerados pelos sensores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o poder computacional necessário para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armazenar, processar e analisar essas informações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90004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Relação da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com Cloud Computer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endParaRPr lang="pt-B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Normalmente, é composto por uma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placa de circuito com sensores anexados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que usa o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para se conectar à Internet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Por exemplo: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sensor de pressão em uma bomba de óleo remota.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Sensores de temperatura e umidade em uma unidade de ar-condicionado.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 acelerômetro em um elevador.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Sensores de presença em uma sala.</a:t>
            </a:r>
          </a:p>
        </p:txBody>
      </p:sp>
    </p:spTree>
    <p:extLst>
      <p:ext uri="{BB962C8B-B14F-4D97-AF65-F5344CB8AC3E}">
        <p14:creationId xmlns:p14="http://schemas.microsoft.com/office/powerpoint/2010/main" val="210947897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Relação da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com Cloud Computer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uma estrutura de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os dados coletados por meio de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dispositivos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armazenados e processados em grandes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datacenters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 a capacidade, além da flexibilidade e da mobilidade necessárias, é de responsabilidade de empresas (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 provedores de cloud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totalmente dedicadas a isso — o que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reduz custos, agrega segurança da informação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confiabilidade, disponibilidade e integridade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entre outros benefícios.</a:t>
            </a:r>
          </a:p>
        </p:txBody>
      </p:sp>
    </p:spTree>
    <p:extLst>
      <p:ext uri="{BB962C8B-B14F-4D97-AF65-F5344CB8AC3E}">
        <p14:creationId xmlns:p14="http://schemas.microsoft.com/office/powerpoint/2010/main" val="318742977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Relação da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com Cloud Computer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de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Google Cloud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permite prever automaticamente quando o equipamento precisa de manutenção e otimizar o desempenho em tempo real, além de prever o tempo de inatividade, detectar anomalias e rastrear o status, o estado e o local dos dispositivos.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plataforma Internet das Coisas (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do Azure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uma coleção de serviços de nuvem, componentes de borda 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gerenciados pela Microsoft que permitem conectar, monitorar e controlar seus ativos de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 escala.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oferece serviços e soluções de 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das Coisas (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 conectar e gerenciar bilhões de dispositivos. Coleta, armazena e analisa dados de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workloads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industriais, de consumo, comerciais e automotivas.</a:t>
            </a:r>
          </a:p>
        </p:txBody>
      </p:sp>
    </p:spTree>
    <p:extLst>
      <p:ext uri="{BB962C8B-B14F-4D97-AF65-F5344CB8AC3E}">
        <p14:creationId xmlns:p14="http://schemas.microsoft.com/office/powerpoint/2010/main" val="124209927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 fontScale="90000"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Relação da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com Cloud Computer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005078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Através do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Datadog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o Azure </a:t>
            </a:r>
            <a:r>
              <a:rPr lang="pt-B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Hub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nos sistemas operacionais 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arquiteturas de hardware, pode-se obter mais de 100 métricas de integridade de dispositivo prontas para uso para CPU, memória, disco, E/S de rede, etc.</a:t>
            </a: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64EDE5C-8A94-D556-2273-E51910FD3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97" y="2004630"/>
            <a:ext cx="7119139" cy="304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72677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Soluções em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para o Negócio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Manufatura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Melhorar a qualidade dos produtos ou ter maior compreensão da cadeia de suprimentos, garantindo um fluxo contínuo de dados para otimizar os processos de fabricação.</a:t>
            </a:r>
          </a:p>
          <a:p>
            <a:pPr marL="0" indent="0" algn="just">
              <a:buNone/>
            </a:pP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Varejo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Aumentar a eficiência operacional por meio do uso de dados em tempo real, operação da loja em tempo real.</a:t>
            </a:r>
          </a:p>
          <a:p>
            <a:pPr marL="0" indent="0" algn="just">
              <a:buNone/>
            </a:pP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Serviços de Utilidade Pública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Conecte e controle turbinas hidrelétricas, usinas eólicas, hidrômetros, redes, etc. Estabelecendo um fluxo contínuo de dados em tempo real com a plataforma </a:t>
            </a:r>
            <a:r>
              <a:rPr lang="pt-B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8549623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Soluções em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r>
              <a:rPr lang="pt-BR" b="1" dirty="0">
                <a:solidFill>
                  <a:srgbClr val="0070C0"/>
                </a:solidFill>
              </a:rPr>
              <a:t> para o Negócio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Provedores de Serviços Telecom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Apoiar a expansão do portifólio de serviços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acrescentar fluxos de receitas de </a:t>
            </a:r>
            <a:r>
              <a:rPr lang="pt-BR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transformar os processos internos.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Transporte e Logística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Proteger a carga, otimizar o uso da frota, oferecer serviços em escala e aumentar a segurança do motorista. Cadeia de suprimentos conectada.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Assistência Médica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Elevar a qualidade dos cuidados com o paciente e simplificar a prestação do atendimento</a:t>
            </a:r>
          </a:p>
        </p:txBody>
      </p:sp>
    </p:spTree>
    <p:extLst>
      <p:ext uri="{BB962C8B-B14F-4D97-AF65-F5344CB8AC3E}">
        <p14:creationId xmlns:p14="http://schemas.microsoft.com/office/powerpoint/2010/main" val="23664472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Profissionais de TI /5G e </a:t>
            </a:r>
            <a:r>
              <a:rPr lang="pt-BR" b="1" dirty="0" err="1">
                <a:solidFill>
                  <a:srgbClr val="0070C0"/>
                </a:solidFill>
              </a:rPr>
              <a:t>IoT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5G, </a:t>
            </a:r>
            <a:r>
              <a:rPr lang="pt-BR" sz="1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OT desafiam o profissional brasileiro de TI a se reinventar em 2022</a:t>
            </a:r>
          </a:p>
          <a:p>
            <a:pPr marL="0" indent="0" algn="just">
              <a:buNone/>
            </a:pPr>
            <a:endParaRPr lang="pt-BR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https://www.decisionreport.com.br/mercado/5g-iot-e-ot-desafiam-o-profissional-brasileiro-de-ti-a-se-reinventar-em-2022/#.ZFpzSnbMLIU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Embratel vê parcerias e integração com 5G como o futuro de produtos corporativos</a:t>
            </a:r>
          </a:p>
          <a:p>
            <a:pPr marL="0" indent="0" algn="just">
              <a:buNone/>
            </a:pP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https://teletime.com.br/19/10/2022/embratel-ve-parcerias-e-integracao-com-5g-como-o-futuro-de-produtos-corporativos/</a:t>
            </a:r>
            <a:r>
              <a:rPr lang="pt-B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67420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Leitura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Específica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1"/>
            <a:ext cx="8865056" cy="339447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the successful convergence of IT and 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https://www2.deloitte.com/content/dam/Deloitte/global/Documents/Risk/gx-deloitte-managing-the-successful-convergence-of-it-and-ot.pdf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virada de chave representada pelas redes privativas de 5G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https://teletime.com.br/28/04/2023/a-virada-de-chave-representada-pelas-redes-privativas-de-5g/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70425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Aprenda</a:t>
            </a:r>
            <a:r>
              <a:rPr lang="en-US" b="1" dirty="0">
                <a:solidFill>
                  <a:srgbClr val="0070C0"/>
                </a:solidFill>
              </a:rPr>
              <a:t>+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39190"/>
            <a:ext cx="8865056" cy="373737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Industrial e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Telemedição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Cloud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Bridgemeter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https://youtu.be/_DRb0kiJ7y4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https://www.abovenet.com.br/index.php/solucoes-1/monitoramento-e-interoperabilidade/ioticity-m2m-iot-cloud-2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Internet das Coisas está transformando negócios globais</a:t>
            </a: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https://youtu.be/FpT4XoqVBbE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pt-B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pt-BR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https://blog.xpeducacao.com.br/cloud-computing/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7596967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Dinâmica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Atividades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39472" y="1063230"/>
            <a:ext cx="8865056" cy="387429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https://quizizz.com/admin/quiz/60f78466d39a67001f78953a/iot-cloud-computing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https://www.surveymonkey.com/r/D78ZYG5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(não precisa informa o e-mail)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Python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https://youtu.be/eo9i6B4XHjc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64297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>
            <a:norm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200150"/>
            <a:ext cx="8865056" cy="373736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COLOMBO,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Jamires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Fátima; DE LUCCA FILHO, João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INTERNET DAS COISAS (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 INDÚSTRIA 4.0: revolucionando o mundo dos negócios. Revista Interface Tecnológica, v. 15, n. 2, p. 72-85, 2018.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PELOZO, Amanda Lopes; OLIVERO, </a:t>
            </a:r>
            <a:r>
              <a:rPr lang="pt-BR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Cainan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Silva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Estudo sobre a integração 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cloud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ambientes residenciais. 2020.</a:t>
            </a:r>
          </a:p>
          <a:p>
            <a:pPr marL="0" indent="0" algn="just">
              <a:buNone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pt-BR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MODESTO, Wanderson et al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Sg2iot-uma arquitetura para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integracao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dispositivos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eletricos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inteligentes de abordagem legada em sistemas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grid baseados na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In: Anais do XIII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Simposio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Brasileiro de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Computacao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Ubiqua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Pervasiva. SBC, 2021. p. 31-40.</a:t>
            </a:r>
          </a:p>
        </p:txBody>
      </p:sp>
    </p:spTree>
    <p:extLst>
      <p:ext uri="{BB962C8B-B14F-4D97-AF65-F5344CB8AC3E}">
        <p14:creationId xmlns:p14="http://schemas.microsoft.com/office/powerpoint/2010/main" val="1115311843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Aplicação Cloud Indústria 40 Python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pic>
        <p:nvPicPr>
          <p:cNvPr id="2" name="Google Shape;62;p1" descr="Imagem">
            <a:extLst>
              <a:ext uri="{FF2B5EF4-FFF2-40B4-BE49-F238E27FC236}">
                <a16:creationId xmlns:a16="http://schemas.microsoft.com/office/drawing/2014/main" id="{9C895622-2963-024D-634E-EA58F5381D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9898" y="343798"/>
            <a:ext cx="2858518" cy="1338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3069</TotalTime>
  <Words>1730</Words>
  <Application>Microsoft Office PowerPoint</Application>
  <PresentationFormat>Apresentação na tela (16:9)</PresentationFormat>
  <Paragraphs>162</Paragraphs>
  <Slides>26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Aplicação Cloud Indústria 40 Python</vt:lpstr>
      <vt:lpstr> Aula 09  Integração Cloud IoT e Características</vt:lpstr>
      <vt:lpstr>Integração Cloud IoT – Características</vt:lpstr>
      <vt:lpstr>Integração Cloud IoT – Características</vt:lpstr>
      <vt:lpstr>Integração Cloud IoT – Características</vt:lpstr>
      <vt:lpstr>Integração Cloud IoT – Características</vt:lpstr>
      <vt:lpstr>Integração Cloud IoT – Características</vt:lpstr>
      <vt:lpstr>Integração Cloud IoT – Características</vt:lpstr>
      <vt:lpstr>Integração Cloud IoT – GCP</vt:lpstr>
      <vt:lpstr>Integração Cloud IoT – GCP</vt:lpstr>
      <vt:lpstr>Integração Cloud IoT – AWS</vt:lpstr>
      <vt:lpstr>Impactos Cloud IoT nas Empresa</vt:lpstr>
      <vt:lpstr>Impactos Cloud IoT nas Empresa</vt:lpstr>
      <vt:lpstr>Relação da IoT com Cloud Computer</vt:lpstr>
      <vt:lpstr>Relação da IoT com Cloud Computer</vt:lpstr>
      <vt:lpstr>Relação da IoT com Cloud Computer</vt:lpstr>
      <vt:lpstr>Relação da IoT com Cloud Computer</vt:lpstr>
      <vt:lpstr>Relação da IoT com Cloud Computer</vt:lpstr>
      <vt:lpstr>Soluções em IoT para o Negócio</vt:lpstr>
      <vt:lpstr>Soluções em IoT para o Negócio</vt:lpstr>
      <vt:lpstr>Profissionais de TI /5G e IoT</vt:lpstr>
      <vt:lpstr>Leitura Específica</vt:lpstr>
      <vt:lpstr>Aprenda+</vt:lpstr>
      <vt:lpstr>Dinâmica/Atividades</vt:lpstr>
      <vt:lpstr>Referências Bibliográficas</vt:lpstr>
      <vt:lpstr>Aplicação Cloud Indústria 40 Python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773</cp:revision>
  <dcterms:created xsi:type="dcterms:W3CDTF">2020-03-17T20:12:34Z</dcterms:created>
  <dcterms:modified xsi:type="dcterms:W3CDTF">2026-04-30T15:42:01Z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