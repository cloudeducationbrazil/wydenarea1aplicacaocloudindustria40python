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5"/>
  </p:notesMasterIdLst>
  <p:sldIdLst>
    <p:sldId id="256" r:id="rId2"/>
    <p:sldId id="291" r:id="rId3"/>
    <p:sldId id="348" r:id="rId4"/>
    <p:sldId id="350" r:id="rId5"/>
    <p:sldId id="351" r:id="rId6"/>
    <p:sldId id="352" r:id="rId7"/>
    <p:sldId id="353" r:id="rId8"/>
    <p:sldId id="354" r:id="rId9"/>
    <p:sldId id="355" r:id="rId10"/>
    <p:sldId id="356" r:id="rId11"/>
    <p:sldId id="357" r:id="rId12"/>
    <p:sldId id="358" r:id="rId13"/>
    <p:sldId id="359" r:id="rId14"/>
    <p:sldId id="360" r:id="rId15"/>
    <p:sldId id="361" r:id="rId16"/>
    <p:sldId id="362" r:id="rId17"/>
    <p:sldId id="363" r:id="rId18"/>
    <p:sldId id="331" r:id="rId19"/>
    <p:sldId id="349" r:id="rId20"/>
    <p:sldId id="364" r:id="rId21"/>
    <p:sldId id="365" r:id="rId22"/>
    <p:sldId id="366" r:id="rId23"/>
    <p:sldId id="347" r:id="rId24"/>
    <p:sldId id="367" r:id="rId25"/>
    <p:sldId id="369" r:id="rId26"/>
    <p:sldId id="370" r:id="rId27"/>
    <p:sldId id="368" r:id="rId28"/>
    <p:sldId id="371" r:id="rId29"/>
    <p:sldId id="333" r:id="rId30"/>
    <p:sldId id="323" r:id="rId31"/>
    <p:sldId id="345" r:id="rId32"/>
    <p:sldId id="337" r:id="rId33"/>
    <p:sldId id="309" r:id="rId34"/>
  </p:sldIdLst>
  <p:sldSz cx="9144000" cy="5143500" type="screen16x9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  <p:extLst>
    <p:ext uri="{EFAFB233-063F-42B5-8137-9DF3F51BA10A}">
      <p15:sldGuideLst xmlns:p15="http://schemas.microsoft.com/office/powerpoint/2012/main">
        <p15:guide id="1" orient="horz" pos="157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Estilo Cl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Estilo Claro 1 - Ênfas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Estilo Claro 1 - Ênfase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9012ECD-51FC-41F1-AA8D-1B2483CD663E}" styleName="Estilo Claro 2 - Ênfas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Estilo Claro 2 - Ênfase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0147" autoAdjust="0"/>
    <p:restoredTop sz="83649" autoAdjust="0"/>
  </p:normalViewPr>
  <p:slideViewPr>
    <p:cSldViewPr snapToGrid="0">
      <p:cViewPr varScale="1">
        <p:scale>
          <a:sx n="71" d="100"/>
          <a:sy n="71" d="100"/>
        </p:scale>
        <p:origin x="678" y="60"/>
      </p:cViewPr>
      <p:guideLst>
        <p:guide orient="horz" pos="1572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4494"/>
    </p:cViewPr>
  </p:sorterViewPr>
  <p:notesViewPr>
    <p:cSldViewPr snapToGrid="0">
      <p:cViewPr varScale="1">
        <p:scale>
          <a:sx n="56" d="100"/>
          <a:sy n="56" d="100"/>
        </p:scale>
        <p:origin x="-2826" y="-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hape 109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0" name="Shape 11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56252599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j-lt"/>
        <a:ea typeface="+mj-ea"/>
        <a:cs typeface="+mj-cs"/>
        <a:sym typeface="Calibri"/>
      </a:defRPr>
    </a:lvl1pPr>
    <a:lvl2pPr indent="228600" defTabSz="457200" latinLnBrk="0">
      <a:defRPr sz="1200">
        <a:latin typeface="+mj-lt"/>
        <a:ea typeface="+mj-ea"/>
        <a:cs typeface="+mj-cs"/>
        <a:sym typeface="Calibri"/>
      </a:defRPr>
    </a:lvl2pPr>
    <a:lvl3pPr indent="457200" defTabSz="457200" latinLnBrk="0">
      <a:defRPr sz="1200">
        <a:latin typeface="+mj-lt"/>
        <a:ea typeface="+mj-ea"/>
        <a:cs typeface="+mj-cs"/>
        <a:sym typeface="Calibri"/>
      </a:defRPr>
    </a:lvl3pPr>
    <a:lvl4pPr indent="685800" defTabSz="457200" latinLnBrk="0">
      <a:defRPr sz="1200">
        <a:latin typeface="+mj-lt"/>
        <a:ea typeface="+mj-ea"/>
        <a:cs typeface="+mj-cs"/>
        <a:sym typeface="Calibri"/>
      </a:defRPr>
    </a:lvl4pPr>
    <a:lvl5pPr indent="914400" defTabSz="457200" latinLnBrk="0">
      <a:defRPr sz="1200">
        <a:latin typeface="+mj-lt"/>
        <a:ea typeface="+mj-ea"/>
        <a:cs typeface="+mj-cs"/>
        <a:sym typeface="Calibri"/>
      </a:defRPr>
    </a:lvl5pPr>
    <a:lvl6pPr indent="1143000" defTabSz="457200" latinLnBrk="0">
      <a:defRPr sz="1200">
        <a:latin typeface="+mj-lt"/>
        <a:ea typeface="+mj-ea"/>
        <a:cs typeface="+mj-cs"/>
        <a:sym typeface="Calibri"/>
      </a:defRPr>
    </a:lvl6pPr>
    <a:lvl7pPr indent="1371600" defTabSz="457200" latinLnBrk="0">
      <a:defRPr sz="1200">
        <a:latin typeface="+mj-lt"/>
        <a:ea typeface="+mj-ea"/>
        <a:cs typeface="+mj-cs"/>
        <a:sym typeface="Calibri"/>
      </a:defRPr>
    </a:lvl7pPr>
    <a:lvl8pPr indent="1600200" defTabSz="457200" latinLnBrk="0">
      <a:defRPr sz="1200">
        <a:latin typeface="+mj-lt"/>
        <a:ea typeface="+mj-ea"/>
        <a:cs typeface="+mj-cs"/>
        <a:sym typeface="Calibri"/>
      </a:defRPr>
    </a:lvl8pPr>
    <a:lvl9pPr indent="1828800" defTabSz="4572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973974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984812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284915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897131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167473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856460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747183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589014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359471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24196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829354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084537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5844487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0324100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5145730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843850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3575354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568491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7434099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1931871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2667644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6289690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3072850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7831128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7211917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9236143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9061337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8530438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0956959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6351604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903512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o do Título"/>
          <p:cNvSpPr txBox="1">
            <a:spLocks noGrp="1"/>
          </p:cNvSpPr>
          <p:nvPr>
            <p:ph type="title" hasCustomPrompt="1"/>
          </p:nvPr>
        </p:nvSpPr>
        <p:spPr>
          <a:xfrm>
            <a:off x="685802" y="1597820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t>Texto do Título</a:t>
            </a:r>
          </a:p>
        </p:txBody>
      </p:sp>
      <p:sp>
        <p:nvSpPr>
          <p:cNvPr id="12" name="Nível de Corpo Um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13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o do Título"/>
          <p:cNvSpPr txBox="1">
            <a:spLocks noGrp="1"/>
          </p:cNvSpPr>
          <p:nvPr>
            <p:ph type="title" hasCustomPrompt="1"/>
          </p:nvPr>
        </p:nvSpPr>
        <p:spPr>
          <a:xfrm>
            <a:off x="722313" y="3305176"/>
            <a:ext cx="7772402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t>Texto do Título</a:t>
            </a:r>
          </a:p>
        </p:txBody>
      </p:sp>
      <p:sp>
        <p:nvSpPr>
          <p:cNvPr id="30" name="Nível de Corpo Um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722313" y="2180035"/>
            <a:ext cx="7772402" cy="1125142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31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o do Título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Texto do Título</a:t>
            </a:r>
          </a:p>
        </p:txBody>
      </p:sp>
      <p:sp>
        <p:nvSpPr>
          <p:cNvPr id="39" name="Nível de Corpo Um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457201" y="1200151"/>
            <a:ext cx="4038601" cy="3394472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40" indent="-320040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40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o do Título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Texto do Título</a:t>
            </a:r>
          </a:p>
        </p:txBody>
      </p:sp>
      <p:sp>
        <p:nvSpPr>
          <p:cNvPr id="48" name="Nível de Corpo Um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sz="2400" b="1"/>
            </a:lvl1pPr>
            <a:lvl2pPr marL="0" indent="0">
              <a:spcBef>
                <a:spcPts val="500"/>
              </a:spcBef>
              <a:buSzTx/>
              <a:buFontTx/>
              <a:buNone/>
              <a:defRPr sz="2400" b="1"/>
            </a:lvl2pPr>
            <a:lvl3pPr marL="0" indent="0">
              <a:spcBef>
                <a:spcPts val="500"/>
              </a:spcBef>
              <a:buSzTx/>
              <a:buFontTx/>
              <a:buNone/>
              <a:defRPr sz="2400" b="1"/>
            </a:lvl3pPr>
            <a:lvl4pPr marL="0" indent="0">
              <a:spcBef>
                <a:spcPts val="500"/>
              </a:spcBef>
              <a:buSzTx/>
              <a:buFontTx/>
              <a:buNone/>
              <a:defRPr sz="2400" b="1"/>
            </a:lvl4pPr>
            <a:lvl5pPr marL="0" indent="0">
              <a:spcBef>
                <a:spcPts val="500"/>
              </a:spcBef>
              <a:buSzTx/>
              <a:buFontTx/>
              <a:buNone/>
              <a:defRPr sz="2400" b="1"/>
            </a:lvl5pPr>
          </a:lstStyle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645028" y="1151334"/>
            <a:ext cx="4041774" cy="479824"/>
          </a:xfrm>
          <a:prstGeom prst="rect">
            <a:avLst/>
          </a:prstGeom>
        </p:spPr>
        <p:txBody>
          <a:bodyPr anchor="b"/>
          <a:lstStyle/>
          <a:p>
            <a:endParaRPr/>
          </a:p>
        </p:txBody>
      </p:sp>
      <p:sp>
        <p:nvSpPr>
          <p:cNvPr id="50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o do Título"/>
          <p:cNvSpPr txBox="1">
            <a:spLocks noGrp="1"/>
          </p:cNvSpPr>
          <p:nvPr>
            <p:ph type="title" hasCustomPrompt="1"/>
          </p:nvPr>
        </p:nvSpPr>
        <p:spPr>
          <a:xfrm>
            <a:off x="457203" y="204787"/>
            <a:ext cx="3008315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t>Texto do Título</a:t>
            </a:r>
          </a:p>
        </p:txBody>
      </p:sp>
      <p:sp>
        <p:nvSpPr>
          <p:cNvPr id="73" name="Nível de Corpo Um…"/>
          <p:cNvSpPr txBox="1">
            <a:spLocks noGrp="1"/>
          </p:cNvSpPr>
          <p:nvPr>
            <p:ph type="body" idx="1" hasCustomPrompt="1"/>
          </p:nvPr>
        </p:nvSpPr>
        <p:spPr>
          <a:xfrm>
            <a:off x="3575052" y="204789"/>
            <a:ext cx="5111749" cy="4389835"/>
          </a:xfrm>
          <a:prstGeom prst="rect">
            <a:avLst/>
          </a:prstGeom>
        </p:spPr>
        <p:txBody>
          <a:bodyPr/>
          <a:lstStyle/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74" name="Text Placeholder 3"/>
          <p:cNvSpPr>
            <a:spLocks noGrp="1"/>
          </p:cNvSpPr>
          <p:nvPr>
            <p:ph type="body" sz="half" idx="13"/>
          </p:nvPr>
        </p:nvSpPr>
        <p:spPr>
          <a:xfrm>
            <a:off x="457198" y="1076326"/>
            <a:ext cx="3008316" cy="3518297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5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o do Título"/>
          <p:cNvSpPr txBox="1">
            <a:spLocks noGrp="1"/>
          </p:cNvSpPr>
          <p:nvPr>
            <p:ph type="title" hasCustomPrompt="1"/>
          </p:nvPr>
        </p:nvSpPr>
        <p:spPr>
          <a:xfrm>
            <a:off x="1792289" y="3600450"/>
            <a:ext cx="5486402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t>Texto do Título</a:t>
            </a:r>
          </a:p>
        </p:txBody>
      </p:sp>
      <p:sp>
        <p:nvSpPr>
          <p:cNvPr id="83" name="Picture Placeholder 2"/>
          <p:cNvSpPr>
            <a:spLocks noGrp="1"/>
          </p:cNvSpPr>
          <p:nvPr>
            <p:ph type="pic" sz="half" idx="13"/>
          </p:nvPr>
        </p:nvSpPr>
        <p:spPr>
          <a:xfrm>
            <a:off x="1792289" y="459581"/>
            <a:ext cx="5486402" cy="3086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84" name="Nível de Corpo Um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792289" y="4025503"/>
            <a:ext cx="5486402" cy="603648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0">
              <a:spcBef>
                <a:spcPts val="300"/>
              </a:spcBef>
              <a:buSzTx/>
              <a:buFontTx/>
              <a:buNone/>
              <a:defRPr sz="1400"/>
            </a:lvl2pPr>
            <a:lvl3pPr marL="0" indent="0">
              <a:spcBef>
                <a:spcPts val="300"/>
              </a:spcBef>
              <a:buSzTx/>
              <a:buFontTx/>
              <a:buNone/>
              <a:defRPr sz="1400"/>
            </a:lvl3pPr>
            <a:lvl4pPr marL="0" indent="0">
              <a:spcBef>
                <a:spcPts val="300"/>
              </a:spcBef>
              <a:buSzTx/>
              <a:buFontTx/>
              <a:buNone/>
              <a:defRPr sz="1400"/>
            </a:lvl4pPr>
            <a:lvl5pPr marL="0" indent="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85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o do Título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Texto do Título</a:t>
            </a:r>
          </a:p>
        </p:txBody>
      </p:sp>
      <p:sp>
        <p:nvSpPr>
          <p:cNvPr id="93" name="Nível de Corpo Um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94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o do Título"/>
          <p:cNvSpPr txBox="1">
            <a:spLocks noGrp="1"/>
          </p:cNvSpPr>
          <p:nvPr>
            <p:ph type="title" hasCustomPrompt="1"/>
          </p:nvPr>
        </p:nvSpPr>
        <p:spPr>
          <a:xfrm>
            <a:off x="6629399" y="205980"/>
            <a:ext cx="2057401" cy="4388645"/>
          </a:xfrm>
          <a:prstGeom prst="rect">
            <a:avLst/>
          </a:prstGeom>
        </p:spPr>
        <p:txBody>
          <a:bodyPr/>
          <a:lstStyle/>
          <a:p>
            <a:r>
              <a:t>Texto do Título</a:t>
            </a:r>
          </a:p>
        </p:txBody>
      </p:sp>
      <p:sp>
        <p:nvSpPr>
          <p:cNvPr id="102" name="Nível de Corpo Um…"/>
          <p:cNvSpPr txBox="1">
            <a:spLocks noGrp="1"/>
          </p:cNvSpPr>
          <p:nvPr>
            <p:ph type="body" idx="1" hasCustomPrompt="1"/>
          </p:nvPr>
        </p:nvSpPr>
        <p:spPr>
          <a:xfrm>
            <a:off x="457200" y="205980"/>
            <a:ext cx="6019801" cy="4388645"/>
          </a:xfrm>
          <a:prstGeom prst="rect">
            <a:avLst/>
          </a:prstGeom>
        </p:spPr>
        <p:txBody>
          <a:bodyPr/>
          <a:lstStyle/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103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 do Título"/>
          <p:cNvSpPr txBox="1"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 anchor="ctr">
            <a:normAutofit/>
          </a:bodyPr>
          <a:lstStyle/>
          <a:p>
            <a:r>
              <a:t>Texto do Título</a:t>
            </a:r>
          </a:p>
        </p:txBody>
      </p:sp>
      <p:sp>
        <p:nvSpPr>
          <p:cNvPr id="3" name="Nível de Corpo Um…"/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>
            <a:normAutofit/>
          </a:bodyPr>
          <a:lstStyle/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4" name="Número do Slide"/>
          <p:cNvSpPr txBox="1">
            <a:spLocks noGrp="1"/>
          </p:cNvSpPr>
          <p:nvPr>
            <p:ph type="sldNum" sz="quarter" idx="2"/>
          </p:nvPr>
        </p:nvSpPr>
        <p:spPr>
          <a:xfrm>
            <a:off x="8342803" y="4765688"/>
            <a:ext cx="344000" cy="276995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rPr/>
              <a:t>‹nº›</a:t>
            </a:fld>
            <a:endParaRPr/>
          </a:p>
        </p:txBody>
      </p:sp>
      <p:pic>
        <p:nvPicPr>
          <p:cNvPr id="5" name="Picture 5" descr="Picture 5"/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6" name="Picture 6" descr="Picture 6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6649752" y="4972050"/>
            <a:ext cx="2494252" cy="17145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7" name="Imagem" descr="Imagem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7051528" y="4341020"/>
            <a:ext cx="1690697" cy="545441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ransition spd="med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590" marR="0" indent="-32639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–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–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»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inkercad.com/things/aSBH9ShfJ80-iot-project-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thingsboard.io/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adabr.com.br/" TargetMode="External"/><Relationship Id="rId7" Type="http://schemas.openxmlformats.org/officeDocument/2006/relationships/hyperlink" Target="https://thingsboard.io/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openiot.network/" TargetMode="External"/><Relationship Id="rId5" Type="http://schemas.openxmlformats.org/officeDocument/2006/relationships/hyperlink" Target="https://thingspeak.com/" TargetMode="External"/><Relationship Id="rId4" Type="http://schemas.openxmlformats.org/officeDocument/2006/relationships/hyperlink" Target="https://wso2.com/br/api-manager/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remote.io/" TargetMode="External"/><Relationship Id="rId7" Type="http://schemas.openxmlformats.org/officeDocument/2006/relationships/hyperlink" Target="https://www.emnify.com/pt-br/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www.kaaiot.com/" TargetMode="External"/><Relationship Id="rId5" Type="http://schemas.openxmlformats.org/officeDocument/2006/relationships/hyperlink" Target="https://dojot.com.br/" TargetMode="External"/><Relationship Id="rId4" Type="http://schemas.openxmlformats.org/officeDocument/2006/relationships/hyperlink" Target="https://www.openhab.org/" TargetMode="Externa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betrybe.com/tecnologia/middleware-tudo-sobre/" TargetMode="Externa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www.techtudo.com.br/noticias/2022/10/o-que-e-internet-das-coisas-veja-como-funciona-a-iot-e-exemplos-de-uso.ghtml" TargetMode="External"/><Relationship Id="rId4" Type="http://schemas.openxmlformats.org/officeDocument/2006/relationships/hyperlink" Target="https://embarcados.com.br/protocolos-de-rede-sem-fio-de-iot/#Tipos-de-protocolos-IoT" TargetMode="Externa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hyperlink" Target="https://microgeniosacademy.com.br/" TargetMode="External"/><Relationship Id="rId3" Type="http://schemas.openxmlformats.org/officeDocument/2006/relationships/hyperlink" Target="https://youtu.be/m6deMoGpJgQ" TargetMode="External"/><Relationship Id="rId7" Type="http://schemas.openxmlformats.org/officeDocument/2006/relationships/hyperlink" Target="https://www.microgenios.com.br/" TargetMode="Externa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www.youtube.com/watch?v=Ikvs6B2591M" TargetMode="External"/><Relationship Id="rId5" Type="http://schemas.openxmlformats.org/officeDocument/2006/relationships/hyperlink" Target="https://youtu.be/-tDGzwsBokY" TargetMode="External"/><Relationship Id="rId4" Type="http://schemas.openxmlformats.org/officeDocument/2006/relationships/hyperlink" Target="https://youtu.be/5ewQBi1rx58" TargetMode="External"/><Relationship Id="rId9" Type="http://schemas.openxmlformats.org/officeDocument/2006/relationships/hyperlink" Target="https://www.lettercount.com/" TargetMode="Externa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etlify.com/" TargetMode="Externa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quizizz.com/admin/quiz/63c839489b4345001ede1fb6/td-internet-das-coisas-parte-1" TargetMode="External"/><Relationship Id="rId4" Type="http://schemas.openxmlformats.org/officeDocument/2006/relationships/hyperlink" Target="https://quizizz.com/admin/quiz/5d77f407e3ebe1001bca7a46/areas-desafios-iot" TargetMode="Externa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4" name="Picture 5" descr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00" y="0"/>
            <a:ext cx="4391984" cy="17145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285751" y="2386770"/>
            <a:ext cx="8615364" cy="1102519"/>
          </a:xfrm>
        </p:spPr>
        <p:txBody>
          <a:bodyPr>
            <a:noAutofit/>
          </a:bodyPr>
          <a:lstStyle/>
          <a:p>
            <a:r>
              <a:rPr lang="pt-BR" sz="4800" b="1" dirty="0">
                <a:solidFill>
                  <a:schemeClr val="bg1"/>
                </a:solidFill>
              </a:rPr>
              <a:t>Aplicação Cloud Indústria 40 Python</a:t>
            </a:r>
          </a:p>
        </p:txBody>
      </p:sp>
      <p:sp>
        <p:nvSpPr>
          <p:cNvPr id="6" name="Título 2"/>
          <p:cNvSpPr txBox="1"/>
          <p:nvPr/>
        </p:nvSpPr>
        <p:spPr>
          <a:xfrm>
            <a:off x="975683" y="3866663"/>
            <a:ext cx="7772400" cy="1102519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 anchor="ctr">
            <a:noAutofit/>
          </a:bodyPr>
          <a:lstStyle>
            <a:lvl1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algn="r" hangingPunct="1"/>
            <a:r>
              <a:rPr lang="pt-BR" sz="2000" b="1" dirty="0">
                <a:solidFill>
                  <a:schemeClr val="bg1"/>
                </a:solidFill>
              </a:rPr>
              <a:t>Professor </a:t>
            </a:r>
            <a:r>
              <a:rPr lang="pt-BR" sz="2000" b="1" dirty="0" err="1">
                <a:solidFill>
                  <a:schemeClr val="bg1"/>
                </a:solidFill>
              </a:rPr>
              <a:t>MSc</a:t>
            </a:r>
            <a:r>
              <a:rPr lang="pt-BR" sz="2000" b="1" dirty="0">
                <a:solidFill>
                  <a:schemeClr val="bg1"/>
                </a:solidFill>
              </a:rPr>
              <a:t>. Heleno Cardoso</a:t>
            </a:r>
          </a:p>
        </p:txBody>
      </p:sp>
      <p:pic>
        <p:nvPicPr>
          <p:cNvPr id="2" name="Google Shape;62;p1" descr="Imagem">
            <a:extLst>
              <a:ext uri="{FF2B5EF4-FFF2-40B4-BE49-F238E27FC236}">
                <a16:creationId xmlns:a16="http://schemas.microsoft.com/office/drawing/2014/main" id="{D9A56D89-1300-762A-5BD5-16B3C4E9985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9898" y="343798"/>
            <a:ext cx="2858518" cy="13386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Picture 6" descr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4" name="Picture 5" descr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900" y="0"/>
            <a:ext cx="4391984" cy="17145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348258" y="2277667"/>
            <a:ext cx="8681444" cy="1102519"/>
          </a:xfrm>
        </p:spPr>
        <p:txBody>
          <a:bodyPr>
            <a:noAutofit/>
          </a:bodyPr>
          <a:lstStyle/>
          <a:p>
            <a:pPr algn="l"/>
            <a:br>
              <a:rPr lang="pt-BR" b="1" dirty="0">
                <a:solidFill>
                  <a:schemeClr val="bg1"/>
                </a:solidFill>
              </a:rPr>
            </a:br>
            <a:r>
              <a:rPr lang="pt-BR" b="1" dirty="0">
                <a:solidFill>
                  <a:schemeClr val="bg1"/>
                </a:solidFill>
              </a:rPr>
              <a:t>Aula 02</a:t>
            </a:r>
            <a:br>
              <a:rPr lang="pt-BR" b="1" dirty="0">
                <a:solidFill>
                  <a:schemeClr val="bg1"/>
                </a:solidFill>
              </a:rPr>
            </a:br>
            <a:r>
              <a:rPr lang="pt-BR" b="1" dirty="0">
                <a:solidFill>
                  <a:schemeClr val="bg1"/>
                </a:solidFill>
              </a:rPr>
              <a:t>	</a:t>
            </a:r>
            <a:r>
              <a:rPr lang="pt-BR" sz="3600" b="1" dirty="0">
                <a:solidFill>
                  <a:schemeClr val="bg1"/>
                </a:solidFill>
              </a:rPr>
              <a:t>Plataformas Middleware,  Comunicação e Protocolos de Rede </a:t>
            </a:r>
            <a:r>
              <a:rPr lang="pt-BR" sz="3600" b="1" dirty="0" err="1">
                <a:solidFill>
                  <a:schemeClr val="bg1"/>
                </a:solidFill>
              </a:rPr>
              <a:t>IoT</a:t>
            </a:r>
            <a:endParaRPr lang="pt-BR" sz="3600" b="1" dirty="0">
              <a:solidFill>
                <a:schemeClr val="bg1"/>
              </a:solidFill>
            </a:endParaRPr>
          </a:p>
        </p:txBody>
      </p:sp>
      <p:sp>
        <p:nvSpPr>
          <p:cNvPr id="6" name="Título 2"/>
          <p:cNvSpPr txBox="1"/>
          <p:nvPr/>
        </p:nvSpPr>
        <p:spPr>
          <a:xfrm>
            <a:off x="975683" y="3866663"/>
            <a:ext cx="7772400" cy="1102519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 anchor="ctr">
            <a:noAutofit/>
          </a:bodyPr>
          <a:lstStyle>
            <a:lvl1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algn="r" hangingPunct="1"/>
            <a:r>
              <a:rPr lang="pt-BR" sz="2000" b="1" dirty="0">
                <a:solidFill>
                  <a:schemeClr val="bg1"/>
                </a:solidFill>
              </a:rPr>
              <a:t>Professor </a:t>
            </a:r>
            <a:r>
              <a:rPr lang="pt-BR" sz="2000" b="1" dirty="0" err="1">
                <a:solidFill>
                  <a:schemeClr val="bg1"/>
                </a:solidFill>
              </a:rPr>
              <a:t>MSc</a:t>
            </a:r>
            <a:r>
              <a:rPr lang="pt-BR" sz="2000" b="1" dirty="0">
                <a:solidFill>
                  <a:schemeClr val="bg1"/>
                </a:solidFill>
              </a:rPr>
              <a:t>. Heleno Cardoso</a:t>
            </a:r>
          </a:p>
        </p:txBody>
      </p:sp>
      <p:pic>
        <p:nvPicPr>
          <p:cNvPr id="4" name="Google Shape;62;p1" descr="Imagem">
            <a:extLst>
              <a:ext uri="{FF2B5EF4-FFF2-40B4-BE49-F238E27FC236}">
                <a16:creationId xmlns:a16="http://schemas.microsoft.com/office/drawing/2014/main" id="{652F850C-6AD9-5CD4-839F-152858F1361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69898" y="343798"/>
            <a:ext cx="2858518" cy="13386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pt-BR" b="1" dirty="0">
                <a:solidFill>
                  <a:srgbClr val="0070C0"/>
                </a:solidFill>
              </a:rPr>
              <a:t>Plataformas Middleware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0"/>
            <a:ext cx="8865056" cy="373737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Middleware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é um software que permite um ou mais tipos de comunicação ou conectividade entre dois ou mais aplicativos e/ou componentes de aplicativos em uma rede distribuída.</a:t>
            </a:r>
          </a:p>
        </p:txBody>
      </p:sp>
    </p:spTree>
    <p:extLst>
      <p:ext uri="{BB962C8B-B14F-4D97-AF65-F5344CB8AC3E}">
        <p14:creationId xmlns:p14="http://schemas.microsoft.com/office/powerpoint/2010/main" val="1263249216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pt-BR" b="1" dirty="0">
                <a:solidFill>
                  <a:srgbClr val="0070C0"/>
                </a:solidFill>
              </a:rPr>
              <a:t>Plataformas Middleware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0"/>
            <a:ext cx="8865056" cy="373737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381F273A-F930-C6BF-15E6-BD0439DC29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0946" y="1200150"/>
            <a:ext cx="5705782" cy="3505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5760340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pt-BR" b="1" dirty="0">
                <a:solidFill>
                  <a:srgbClr val="0070C0"/>
                </a:solidFill>
              </a:rPr>
              <a:t>Plataformas Middleware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0"/>
            <a:ext cx="8865056" cy="373737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Existem muitos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tipos de middleware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ü"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Corretores de mensagens ou monitores de processamento de transações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Servidores de aplicativos da web ou de dispositivo móvel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Plataforma de integração baseada em nuvem como oferta de serviço (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iPaaS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Integration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Plataform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as a Service) ou um barramento de serviço corporativo (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EBS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Enterprise Service Bus)</a:t>
            </a:r>
          </a:p>
        </p:txBody>
      </p:sp>
    </p:spTree>
    <p:extLst>
      <p:ext uri="{BB962C8B-B14F-4D97-AF65-F5344CB8AC3E}">
        <p14:creationId xmlns:p14="http://schemas.microsoft.com/office/powerpoint/2010/main" val="2764289656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pt-BR" b="1" dirty="0">
                <a:solidFill>
                  <a:srgbClr val="0070C0"/>
                </a:solidFill>
              </a:rPr>
              <a:t>Plataformas Middleware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0"/>
            <a:ext cx="8865056" cy="373737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Podem fornecer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serviços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que permitem que diferentes aplicativos e serviços se comuniquem usando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estruturas de mensagens 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comuns, como:</a:t>
            </a: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JSON (notação de objeto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JavaScript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 (transferência de estado representacional);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XML (linguagem de marcação extensível);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SOAP (protocolo de acesso a objeto simples);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Serviços web.</a:t>
            </a: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Escritos em várias linguagens: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Java, C++, PHP e Python,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conversem entre si.</a:t>
            </a:r>
            <a:endParaRPr lang="pt-BR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6633350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pt-BR" b="1" dirty="0">
                <a:solidFill>
                  <a:srgbClr val="0070C0"/>
                </a:solidFill>
              </a:rPr>
              <a:t>Plataformas Middleware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0"/>
            <a:ext cx="8865056" cy="373737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Serviços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como:</a:t>
            </a:r>
          </a:p>
          <a:p>
            <a:pPr marL="0" indent="0" algn="just">
              <a:buNone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Configure e controle conexões e integrações</a:t>
            </a:r>
          </a:p>
          <a:p>
            <a:pPr algn="just">
              <a:buFont typeface="Wingdings" panose="05000000000000000000" pitchFamily="2" charset="2"/>
              <a:buChar char="§"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Conexões seguras e transferência de dados</a:t>
            </a:r>
          </a:p>
          <a:p>
            <a:pPr algn="just">
              <a:buFont typeface="Wingdings" panose="05000000000000000000" pitchFamily="2" charset="2"/>
              <a:buChar char="§"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Gerencie o tráfego dinamicamente em sistemas distribuídos</a:t>
            </a: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4910840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pt-BR" b="1" dirty="0">
                <a:solidFill>
                  <a:srgbClr val="0070C0"/>
                </a:solidFill>
              </a:rPr>
              <a:t>Plataformas Middleware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0"/>
            <a:ext cx="8865056" cy="373737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Camadas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como:</a:t>
            </a:r>
          </a:p>
          <a:p>
            <a:pPr marL="0" indent="0" algn="just">
              <a:buNone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Camada de containers (CI/CD)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Camada de ambientes de execução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Camada de integração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Camada de automação de processos e gerenciamento de decisões </a:t>
            </a: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4418082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pt-BR" b="1" dirty="0">
                <a:solidFill>
                  <a:srgbClr val="0070C0"/>
                </a:solidFill>
              </a:rPr>
              <a:t>Plataformas Middleware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0"/>
            <a:ext cx="8865056" cy="373737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Tipos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como:</a:t>
            </a:r>
          </a:p>
          <a:p>
            <a:pPr marL="0" indent="0" algn="just">
              <a:buNone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Orientado a mensagens (MOM)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Chamada de procedimento remoto (RPC)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Dados ou banco de dados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(interface de programação de aplicativos)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ORB (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Request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Broker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middleware de especificação CORBA (Common </a:t>
            </a:r>
            <a:r>
              <a:rPr lang="pt-B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Object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Request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Broker </a:t>
            </a:r>
            <a:r>
              <a:rPr lang="pt-B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4414427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pt-BR" b="1" dirty="0">
                <a:solidFill>
                  <a:srgbClr val="0070C0"/>
                </a:solidFill>
              </a:rPr>
              <a:t>Plataformas Middleware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0"/>
            <a:ext cx="8865056" cy="373737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Tipos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como:</a:t>
            </a:r>
          </a:p>
          <a:p>
            <a:pPr marL="0" indent="0" algn="just">
              <a:buNone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Transacional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Fluxo de dados assíncrono (Apache Kafka, </a:t>
            </a:r>
            <a:r>
              <a:rPr lang="pt-B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RabbitMQ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Dispositivo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Portal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Robótica</a:t>
            </a: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2983045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pt-BR" b="1" dirty="0">
                <a:solidFill>
                  <a:srgbClr val="0070C0"/>
                </a:solidFill>
              </a:rPr>
              <a:t>Plataformas Middleware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0"/>
            <a:ext cx="8865056" cy="373737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middleware de plataforma 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(ou middleware de plataforma de aplicativo) pode suportar ainda mais o desenvolvimento de aplicativos e acelerar a entrega de aplicativos, fornecendo um ambiente de hospedagem em tempo de execução, para aplicativos ou lógica de negócios.</a:t>
            </a: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0563002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pt-BR" b="1" dirty="0">
                <a:solidFill>
                  <a:srgbClr val="0070C0"/>
                </a:solidFill>
              </a:rPr>
              <a:t>Plataformas Middleware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0"/>
            <a:ext cx="8865056" cy="373737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middleware de plataforma 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pode incluir ou combinar servidores de aplicativos corporativos, servidores da web e sistemas de gerenciamento de conteúdo.</a:t>
            </a: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aplicativos middleware 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 nativos da nuvem são aplicativos desenvolvidos a partir de 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microsserviços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implantados em contêineres orquestrados usando </a:t>
            </a: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Kubernetes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22684655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pt-BR" b="1" dirty="0">
                <a:solidFill>
                  <a:srgbClr val="0070C0"/>
                </a:solidFill>
              </a:rPr>
              <a:t>Plataformas Middleware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0"/>
            <a:ext cx="8865056" cy="373737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Os 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microsserviços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são componentes de aplicativo fracamente acoplados que abrangem sua própria pilha e podem ser implementados e atualizados independentemente uns dos outros e se comunicam usando uma combinação de 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APIs REST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corretores de mensagens e fluxos de eventos.</a:t>
            </a:r>
          </a:p>
        </p:txBody>
      </p:sp>
    </p:spTree>
    <p:extLst>
      <p:ext uri="{BB962C8B-B14F-4D97-AF65-F5344CB8AC3E}">
        <p14:creationId xmlns:p14="http://schemas.microsoft.com/office/powerpoint/2010/main" val="1850552593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pt-BR" b="1" dirty="0">
                <a:solidFill>
                  <a:srgbClr val="0070C0"/>
                </a:solidFill>
              </a:rPr>
              <a:t>Plataformas Middleware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0"/>
            <a:ext cx="8865056" cy="373737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Existem algumas 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plataformas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populares de desenvolvimento de aplicativos em nuvem como, para incluir 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middleware em contêiner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 algn="just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Cloud </a:t>
            </a: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Foundry</a:t>
            </a: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Hat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Open Shift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Azure Microsoft</a:t>
            </a:r>
          </a:p>
        </p:txBody>
      </p:sp>
    </p:spTree>
    <p:extLst>
      <p:ext uri="{BB962C8B-B14F-4D97-AF65-F5344CB8AC3E}">
        <p14:creationId xmlns:p14="http://schemas.microsoft.com/office/powerpoint/2010/main" val="179504181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pt-BR" b="1" dirty="0">
                <a:solidFill>
                  <a:srgbClr val="0070C0"/>
                </a:solidFill>
              </a:rPr>
              <a:t>Plataformas Middleware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0"/>
            <a:ext cx="8865056" cy="373737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Aplicações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como:</a:t>
            </a:r>
          </a:p>
          <a:p>
            <a:pPr marL="0" indent="0" algn="just">
              <a:buNone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Servidor de aplicativos;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Banco de dados;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Orientado a mensagens;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Processamento de transações;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WEB.</a:t>
            </a: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4347148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pt-BR" b="1" dirty="0">
                <a:solidFill>
                  <a:srgbClr val="0070C0"/>
                </a:solidFill>
              </a:rPr>
              <a:t>Plataformas Middleware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0"/>
            <a:ext cx="8865056" cy="373737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Comunicação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como:</a:t>
            </a:r>
          </a:p>
          <a:p>
            <a:pPr marL="0" indent="0" algn="just">
              <a:buNone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Estrutura de mensagens como protocolo de acesso a objetos simples (</a:t>
            </a: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SOAP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Transferência de estado representacional (</a:t>
            </a: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Serviços da web e notação de objeto </a:t>
            </a:r>
            <a:r>
              <a:rPr lang="pt-B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JavaScript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JSON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7982466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pt-BR" b="1" dirty="0">
                <a:solidFill>
                  <a:srgbClr val="0070C0"/>
                </a:solidFill>
              </a:rPr>
              <a:t>Plataformas Middleware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0"/>
            <a:ext cx="8865056" cy="373737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 escolha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levar em consideração:</a:t>
            </a:r>
          </a:p>
          <a:p>
            <a:pPr marL="0" indent="0" algn="just">
              <a:buNone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Autenticação de segurança;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Gerenciamento de transações;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Filas de mensagens; 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Servidores de aplicativos; 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Servidores da web e diretórios.</a:t>
            </a: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4974126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pt-BR" b="1" dirty="0">
                <a:solidFill>
                  <a:srgbClr val="0070C0"/>
                </a:solidFill>
              </a:rPr>
              <a:t>Plataformas de Comunicação </a:t>
            </a:r>
            <a:r>
              <a:rPr lang="pt-BR" b="1" dirty="0" err="1">
                <a:solidFill>
                  <a:srgbClr val="0070C0"/>
                </a:solidFill>
              </a:rPr>
              <a:t>IoT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0"/>
            <a:ext cx="8865056" cy="373737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Seja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nuvem ou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edge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com o auxílio de chips integrados, as máquinas podem trocar informações e dados por meio de sensores ou software conectados através da internet.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Soluções de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na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indústria 4.0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factory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graças à comunicação entre máquinas (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M2M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consequências: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Automatizar os processos de produção em uma fábrica inteligente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IA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Computação Cognitiva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Robótica</a:t>
            </a:r>
          </a:p>
        </p:txBody>
      </p:sp>
    </p:spTree>
    <p:extLst>
      <p:ext uri="{BB962C8B-B14F-4D97-AF65-F5344CB8AC3E}">
        <p14:creationId xmlns:p14="http://schemas.microsoft.com/office/powerpoint/2010/main" val="1362980025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pt-BR" b="1" dirty="0">
                <a:solidFill>
                  <a:srgbClr val="0070C0"/>
                </a:solidFill>
              </a:rPr>
              <a:t>Plataformas Cloud </a:t>
            </a:r>
            <a:r>
              <a:rPr lang="pt-BR" b="1" dirty="0" err="1">
                <a:solidFill>
                  <a:srgbClr val="0070C0"/>
                </a:solidFill>
              </a:rPr>
              <a:t>IoT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0"/>
            <a:ext cx="8865056" cy="3737370"/>
          </a:xfrm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§"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Google Cloud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Big data; CDN (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Delivery Network); Compute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Engine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Data Flow; Cloud SQL;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Anthos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(container); Cloud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Storage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AWS Cloud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AWS Lambda; EC2;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Glacier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(Armazenamento de arquivos, backup)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IBM Cloud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Oracle Cloud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Azure Cloud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3137068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pt-BR" b="1" dirty="0">
                <a:solidFill>
                  <a:srgbClr val="0070C0"/>
                </a:solidFill>
              </a:rPr>
              <a:t>Plataformas Prototipação </a:t>
            </a:r>
            <a:r>
              <a:rPr lang="pt-BR" b="1" dirty="0" err="1">
                <a:solidFill>
                  <a:srgbClr val="0070C0"/>
                </a:solidFill>
              </a:rPr>
              <a:t>IoT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92574"/>
            <a:ext cx="8865056" cy="3844946"/>
          </a:xfrm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§"/>
            </a:pP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Arduíno (</a:t>
            </a:r>
            <a:r>
              <a:rPr lang="pt-BR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Windows, Linux, Mac OS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  <a:r>
              <a:rPr lang="pt-BR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microcontrolador Atmel AVR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Raspberry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PI (</a:t>
            </a:r>
            <a:r>
              <a:rPr lang="pt-BR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Linux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Intel Edison (</a:t>
            </a:r>
            <a:r>
              <a:rPr lang="pt-BR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Windows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Tinkercard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t-BR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Arduíno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 algn="just">
              <a:buNone/>
            </a:pP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(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https://www.tinkercad.com/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things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/aSBH9ShfJ80-iot-project-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 algn="just">
              <a:buNone/>
            </a:pPr>
            <a:endParaRPr lang="pt-BR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Outro Tipo de Plataforma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 algn="just">
              <a:buNone/>
            </a:pP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THINGSBOARD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https://thingsboard.io/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 algn="just">
              <a:buNone/>
            </a:pPr>
            <a:endParaRPr lang="pt-BR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O </a:t>
            </a:r>
            <a:r>
              <a:rPr lang="pt-BR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ThingsBoard</a:t>
            </a:r>
            <a:r>
              <a:rPr lang="pt-B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é uma plataforma que recebe dados de dispositivos IoT, processa essas informações e mostra tudo em painéis e dashboards para monitoramento e automação. Arquitetura de um projeto com </a:t>
            </a:r>
            <a:r>
              <a:rPr lang="pt-BR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ThingsBoard</a:t>
            </a:r>
            <a:r>
              <a:rPr lang="pt-B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(ESP32 + MQTT + Dashboard).</a:t>
            </a:r>
          </a:p>
        </p:txBody>
      </p:sp>
    </p:spTree>
    <p:extLst>
      <p:ext uri="{BB962C8B-B14F-4D97-AF65-F5344CB8AC3E}">
        <p14:creationId xmlns:p14="http://schemas.microsoft.com/office/powerpoint/2010/main" val="2128304690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pt-BR" b="1" dirty="0">
                <a:solidFill>
                  <a:srgbClr val="0070C0"/>
                </a:solidFill>
              </a:rPr>
              <a:t>Plataformas Middleware </a:t>
            </a:r>
            <a:r>
              <a:rPr lang="pt-BR" b="1" dirty="0" err="1">
                <a:solidFill>
                  <a:srgbClr val="0070C0"/>
                </a:solidFill>
              </a:rPr>
              <a:t>IoT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992886"/>
            <a:ext cx="8865056" cy="3944634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Serve para armazenar e recuperar dados de itens usando o protocolos HTTP, MQTT,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pela Internet ou por meio de uma rede local.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XIVELY (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https://www.scadabr.com.br/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WSO2 (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https://wso2.com/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br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/api-manager/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THINGSPEAK (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https://thingspeak.com/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OPENIOT (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https://openiot.network/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THINGSBOARD (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https://thingsboard.io/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-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opensource</a:t>
            </a: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0747449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pt-BR" b="1" dirty="0">
                <a:solidFill>
                  <a:srgbClr val="0070C0"/>
                </a:solidFill>
              </a:rPr>
              <a:t>Plataformas Middleware </a:t>
            </a:r>
            <a:r>
              <a:rPr lang="pt-BR" b="1" dirty="0" err="1">
                <a:solidFill>
                  <a:srgbClr val="0070C0"/>
                </a:solidFill>
              </a:rPr>
              <a:t>IoT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992886"/>
            <a:ext cx="8865056" cy="3944634"/>
          </a:xfrm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§"/>
            </a:pP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Openremote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https://openremote.io/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-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opensource</a:t>
            </a:r>
            <a:endParaRPr lang="pt-BR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OpenHab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https://www.openhab.org/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DoJot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https://dojot.com.br/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-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opensource</a:t>
            </a: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Kaaiot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https://www.kaaiot.com/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Emnify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https://www.emnify.com/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pt-br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/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8590938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pt-BR" b="1" dirty="0">
                <a:solidFill>
                  <a:srgbClr val="0070C0"/>
                </a:solidFill>
              </a:rPr>
              <a:t>Protocolos de Rede para IOT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0"/>
            <a:ext cx="8865056" cy="373737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Internet das Coisas (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intercâmbio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dados entre sensores, dispositivos, gateways, servidores e aplicações de usuário é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habilitado por protocolos de rede 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como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WiFi, Bluetooth,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ZigBee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 muitos outros. </a:t>
            </a: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 requisitos da aplicação final de alcance, dados, segurança, energia e vida útil da bateria determinam a escolha do protocolo de rede.</a:t>
            </a: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4424786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pt-BR" b="1" dirty="0">
                <a:solidFill>
                  <a:srgbClr val="0070C0"/>
                </a:solidFill>
              </a:rPr>
              <a:t>Protocolos de Rede para IOT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0"/>
            <a:ext cx="8865056" cy="373737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Alguns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protocolos de rede para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 algn="just">
              <a:buNone/>
            </a:pPr>
            <a:endParaRPr lang="pt-B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MQTT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(assinatura/publicação;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coleta dados, supervisiona dispositivos,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pt-B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COAP (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automação – aplicação restrita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XMPP­IOT (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troca de mensagens síncronas,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whasapp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jogos online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RESTful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HTTP (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representational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transfer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DDS (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distribuição de dados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AMQP (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serviço de mensageria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M2M (indústria;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comunicação de máquina a máquina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3628341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pt-BR" b="1" dirty="0">
                <a:solidFill>
                  <a:srgbClr val="0070C0"/>
                </a:solidFill>
              </a:rPr>
              <a:t>Protocolos de Rede para IOT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0"/>
            <a:ext cx="8865056" cy="3737370"/>
          </a:xfrm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§"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Bluetooth (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comunicação de alcance curto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Wi-fi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comunicação sem fio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Zigbee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comunicação em fio, residências inteligentes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Z-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Wave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automação comercial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6LowPAN (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encapsulamento, compressão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Thread (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IPV6 automação residencial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Smartphone (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comunicação de dados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NFC (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comunicação de rádio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LoRaWAN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comunicação WAN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6141899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pt-BR" b="1" dirty="0">
                <a:solidFill>
                  <a:srgbClr val="0070C0"/>
                </a:solidFill>
              </a:rPr>
              <a:t>Protocolo </a:t>
            </a:r>
            <a:r>
              <a:rPr lang="pt-BR" b="1" dirty="0" err="1">
                <a:solidFill>
                  <a:srgbClr val="0070C0"/>
                </a:solidFill>
              </a:rPr>
              <a:t>Wi-fi</a:t>
            </a:r>
            <a:r>
              <a:rPr lang="pt-BR" b="1" dirty="0">
                <a:solidFill>
                  <a:srgbClr val="0070C0"/>
                </a:solidFill>
              </a:rPr>
              <a:t> de Rede para IOT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992886"/>
            <a:ext cx="8865056" cy="3944634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WiFi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usa a topologia de rede em estrela e o ponto de acesso pode ser usado como um gateway para a Internet. </a:t>
            </a: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Cada ponto de acesso pode se conectar a um máximo de 250 dispositivos, e a maioria das soluções disponíveis comercialmente suportam até 50 dispositivos. </a:t>
            </a: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802.11-b/g/n opera em 2,4 GHZ e fornece taxa de dados de 150-200 Mbps no ambiente doméstico ou no escritório, normalmente em uma faixa de 50 metros. </a:t>
            </a: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padrão 802.11-ac mais recente funciona em 5 GHz e fornece uma taxa de dados de 500 Mbps-1 Gbps.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8765178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pt-BR" b="1" dirty="0">
                <a:solidFill>
                  <a:srgbClr val="0070C0"/>
                </a:solidFill>
              </a:rPr>
              <a:t>Protocolos de Rede para IOT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39472" y="998836"/>
            <a:ext cx="8865056" cy="373737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Pilha do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protocolo de rede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 algn="just">
              <a:buNone/>
            </a:pPr>
            <a:endParaRPr lang="pt-B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509319AC-61B2-5A18-BDEC-D79F1E6726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615" y="1472551"/>
            <a:ext cx="6446884" cy="3517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305647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pt-BR" b="1" dirty="0">
                <a:solidFill>
                  <a:srgbClr val="0070C0"/>
                </a:solidFill>
              </a:rPr>
              <a:t>Exemplos de IOT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39472" y="998836"/>
            <a:ext cx="8865056" cy="3737370"/>
          </a:xfrm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§"/>
            </a:pP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Wearable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(Aparelhos “vestíveis” são acessórios inteligentes no corpo, como os relógios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smart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(Apple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Watch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 Samsung Galaxy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Watch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e fones de ouvido.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Casa Inteligente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Smart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Tvs; geladeiras, fechaduras, iluminação,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Saúde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(prontuário do paciente, registrando mudanças no estado clínico)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Cidades Inteligentes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(trânsito, ruído, crime, poluição,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Carro conectado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(reconhece motorista, abre portas, partida com botão,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Agricultura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(monitoramento da temperatura, sistema de irrigação,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Telemedicina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 IA, monitoramento e acompanhamento médico)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Smart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Factory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(automação nas indústrias)</a:t>
            </a:r>
          </a:p>
          <a:p>
            <a:pPr algn="just">
              <a:buFont typeface="Wingdings" panose="05000000000000000000" pitchFamily="2" charset="2"/>
              <a:buChar char="§"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9224352"/>
      </p:ext>
    </p:ext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Leitura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Específica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1"/>
            <a:ext cx="8865056" cy="3394472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Plataformas de Middleware e de Comunicação para IOT em Python.</a:t>
            </a:r>
          </a:p>
          <a:p>
            <a:pPr marL="0" indent="0" algn="just">
              <a:buNone/>
            </a:pP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Disponível em: 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https://blog.betrybe.com/tecnologia/middleware-tudo-sobre/</a:t>
            </a: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Protocolos de Rede para IOT em Python. </a:t>
            </a:r>
          </a:p>
          <a:p>
            <a:pPr marL="0" indent="0" algn="just">
              <a:buNone/>
            </a:pP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Disponível em: 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https://embarcados.com.br/protocolos-de-rede-sem-fio-de-iot/#Tipos-de-protocolos-IoT</a:t>
            </a: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https://www.techtudo.com.br/noticias/2022/10/o-que-e-internet-das-coisas-veja-como-funciona-a-iot-e-exemplos-de-uso.ghtml</a:t>
            </a: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4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0270425"/>
      </p:ext>
    </p:extLst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Aprenda</a:t>
            </a:r>
            <a:r>
              <a:rPr lang="en-US" b="1" dirty="0">
                <a:solidFill>
                  <a:srgbClr val="0070C0"/>
                </a:solidFill>
              </a:rPr>
              <a:t>+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39472" y="893318"/>
            <a:ext cx="8865056" cy="418967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Plataformas de Middleware e de Comunicação para IOT em Python.</a:t>
            </a:r>
          </a:p>
          <a:p>
            <a:pPr marL="0" indent="0" algn="just">
              <a:buNone/>
            </a:pPr>
            <a:r>
              <a:rPr lang="pt-BR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Disponível em: 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https://youtu.be/m6deMoGpJgQ</a:t>
            </a:r>
            <a:endParaRPr lang="pt-BR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 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https://youtu.be/5ewQBi1rx58</a:t>
            </a:r>
            <a:endParaRPr lang="pt-BR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Protocolos de Rede para IOT em Python. </a:t>
            </a:r>
          </a:p>
          <a:p>
            <a:pPr marL="0" indent="0" algn="just">
              <a:buNone/>
            </a:pPr>
            <a:r>
              <a:rPr lang="pt-BR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Disponível em: 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https://youtu.be/-tDGzwsBokY</a:t>
            </a:r>
            <a:endParaRPr lang="pt-BR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 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https://www.youtube.com/watch?v=Ikvs6B2591M</a:t>
            </a:r>
            <a:endParaRPr lang="pt-BR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Formação IoT com ESP32 e </a:t>
            </a:r>
            <a:r>
              <a:rPr lang="pt-B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Raspberry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PI, Assinatura plataforma IoT </a:t>
            </a:r>
            <a:r>
              <a:rPr lang="pt-B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geniot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indent="0" algn="just">
              <a:buNone/>
            </a:pP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https://www.microgenios.com.br/</a:t>
            </a:r>
            <a:endParaRPr lang="pt-BR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  <a:hlinkClick r:id="rId8"/>
              </a:rPr>
              <a:t>https://microgeniosacademy.com.br/</a:t>
            </a:r>
            <a:endParaRPr lang="pt-BR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  <a:hlinkClick r:id="rId9"/>
              </a:rPr>
              <a:t>https://www.lettercount.com/</a:t>
            </a:r>
            <a:endParaRPr lang="pt-BR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7596967"/>
      </p:ext>
    </p:extLst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Dinâmica</a:t>
            </a:r>
            <a:r>
              <a:rPr lang="en-US" b="1" dirty="0">
                <a:solidFill>
                  <a:srgbClr val="0070C0"/>
                </a:solidFill>
              </a:rPr>
              <a:t>/</a:t>
            </a:r>
            <a:r>
              <a:rPr lang="en-US" b="1" dirty="0" err="1">
                <a:solidFill>
                  <a:srgbClr val="0070C0"/>
                </a:solidFill>
              </a:rPr>
              <a:t>Atividades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39472" y="1063230"/>
            <a:ext cx="8865056" cy="3606305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Exercícios (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Atividade Verificadora de Aprendizagem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</a:t>
            </a: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 Plataforma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Netlify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https://www.netlify.com/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/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  <a:endParaRPr lang="pt-BR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Criar e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deploy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 teste</a:t>
            </a: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https://quizizz.com/admin/quiz/5d77f407e3ebe1001bca7a46/areas-desafios-iot</a:t>
            </a: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https://quizizz.com/admin/quiz/63c839489b4345001ede1fb6/td-internet-das-coisas-parte-1</a:t>
            </a: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7642976"/>
      </p:ext>
    </p:extLst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Referências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Bibliográficas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1"/>
            <a:ext cx="8865056" cy="3394472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SERGIO,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Luis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Antonio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Pereira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Plataformas de middleware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livres para fins didáticos.</a:t>
            </a: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</a:t>
            </a:r>
            <a:r>
              <a:rPr lang="pt-BR" sz="2000" b="1" dirty="0">
                <a:solidFill>
                  <a:srgbClr val="FF0000"/>
                </a:solidFill>
                <a:latin typeface="Calibri" panose="020F0502020204030204" pitchFamily="34" charset="0"/>
              </a:rPr>
              <a:t>PIRES, Paulo F. </a:t>
            </a:r>
            <a:r>
              <a:rPr lang="pt-BR" sz="2000" dirty="0">
                <a:latin typeface="Calibri" panose="020F0502020204030204" pitchFamily="34" charset="0"/>
              </a:rPr>
              <a:t>et al. Plataformas para a internet das coisas. Minicursos SBRC-Simpósio Brasileiro de Redes de Computadores e Sistemas Distribuídos, 2015.</a:t>
            </a:r>
          </a:p>
          <a:p>
            <a:pPr marL="0" indent="0" algn="just">
              <a:buNone/>
            </a:pPr>
            <a:endParaRPr lang="pt-BR" sz="2000" dirty="0">
              <a:latin typeface="Calibri" panose="020F0502020204030204" pitchFamily="34" charset="0"/>
            </a:endParaRPr>
          </a:p>
          <a:p>
            <a:pPr marL="0" indent="0" algn="just">
              <a:buNone/>
            </a:pPr>
            <a:r>
              <a:rPr lang="pt-BR" sz="2000" dirty="0">
                <a:latin typeface="Calibri" panose="020F0502020204030204" pitchFamily="34" charset="0"/>
              </a:rPr>
              <a:t>[3] </a:t>
            </a:r>
            <a:r>
              <a:rPr lang="pt-BR" sz="2000" b="1" dirty="0">
                <a:solidFill>
                  <a:srgbClr val="FF0000"/>
                </a:solidFill>
                <a:latin typeface="Calibri" panose="020F0502020204030204" pitchFamily="34" charset="0"/>
              </a:rPr>
              <a:t>SCHENFELD, Matheus Crespi </a:t>
            </a:r>
            <a:r>
              <a:rPr lang="pt-BR" sz="2000" dirty="0">
                <a:latin typeface="Calibri" panose="020F0502020204030204" pitchFamily="34" charset="0"/>
              </a:rPr>
              <a:t>et al. Arquitetura para fog </a:t>
            </a:r>
            <a:r>
              <a:rPr lang="pt-BR" sz="2000" dirty="0" err="1">
                <a:latin typeface="Calibri" panose="020F0502020204030204" pitchFamily="34" charset="0"/>
              </a:rPr>
              <a:t>computing</a:t>
            </a:r>
            <a:r>
              <a:rPr lang="pt-BR" sz="2000" dirty="0">
                <a:latin typeface="Calibri" panose="020F0502020204030204" pitchFamily="34" charset="0"/>
              </a:rPr>
              <a:t> em sistemas de middleware para internet das coisas. In: Anais do XLIII Seminário Integrado de Software e Hardware. SBC, 2016. p. 1819-1829.</a:t>
            </a:r>
          </a:p>
        </p:txBody>
      </p:sp>
    </p:spTree>
    <p:extLst>
      <p:ext uri="{BB962C8B-B14F-4D97-AF65-F5344CB8AC3E}">
        <p14:creationId xmlns:p14="http://schemas.microsoft.com/office/powerpoint/2010/main" val="1115311843"/>
      </p:ext>
    </p:extLst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4" name="Picture 5" descr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00" y="0"/>
            <a:ext cx="4391984" cy="17145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285751" y="2386770"/>
            <a:ext cx="8615364" cy="1102519"/>
          </a:xfrm>
        </p:spPr>
        <p:txBody>
          <a:bodyPr>
            <a:noAutofit/>
          </a:bodyPr>
          <a:lstStyle/>
          <a:p>
            <a:r>
              <a:rPr lang="pt-BR" sz="4800" b="1" dirty="0">
                <a:solidFill>
                  <a:schemeClr val="bg1"/>
                </a:solidFill>
              </a:rPr>
              <a:t>Aplicação Cloud Indústria 40 Python</a:t>
            </a:r>
          </a:p>
        </p:txBody>
      </p:sp>
      <p:sp>
        <p:nvSpPr>
          <p:cNvPr id="6" name="Título 2"/>
          <p:cNvSpPr txBox="1"/>
          <p:nvPr/>
        </p:nvSpPr>
        <p:spPr>
          <a:xfrm>
            <a:off x="975683" y="3866663"/>
            <a:ext cx="7772400" cy="1102519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 anchor="ctr">
            <a:noAutofit/>
          </a:bodyPr>
          <a:lstStyle>
            <a:lvl1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algn="r" hangingPunct="1"/>
            <a:r>
              <a:rPr lang="pt-BR" sz="2000" b="1" dirty="0">
                <a:solidFill>
                  <a:schemeClr val="bg1"/>
                </a:solidFill>
              </a:rPr>
              <a:t>Professor </a:t>
            </a:r>
            <a:r>
              <a:rPr lang="pt-BR" sz="2000" b="1">
                <a:solidFill>
                  <a:schemeClr val="bg1"/>
                </a:solidFill>
              </a:rPr>
              <a:t>M.Sc</a:t>
            </a:r>
            <a:r>
              <a:rPr lang="pt-BR" sz="2000" b="1" dirty="0">
                <a:solidFill>
                  <a:schemeClr val="bg1"/>
                </a:solidFill>
              </a:rPr>
              <a:t>. Heleno Cardoso</a:t>
            </a:r>
          </a:p>
        </p:txBody>
      </p:sp>
      <p:pic>
        <p:nvPicPr>
          <p:cNvPr id="2" name="Google Shape;62;p1" descr="Imagem">
            <a:extLst>
              <a:ext uri="{FF2B5EF4-FFF2-40B4-BE49-F238E27FC236}">
                <a16:creationId xmlns:a16="http://schemas.microsoft.com/office/drawing/2014/main" id="{9C895622-2963-024D-634E-EA58F5381D0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9898" y="343798"/>
            <a:ext cx="2858518" cy="13386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3264</TotalTime>
  <Words>1732</Words>
  <Application>Microsoft Office PowerPoint</Application>
  <PresentationFormat>Apresentação na tela (16:9)</PresentationFormat>
  <Paragraphs>218</Paragraphs>
  <Slides>33</Slides>
  <Notes>31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33</vt:i4>
      </vt:variant>
    </vt:vector>
  </HeadingPairs>
  <TitlesOfParts>
    <vt:vector size="38" baseType="lpstr">
      <vt:lpstr>Arial</vt:lpstr>
      <vt:lpstr>Calibri</vt:lpstr>
      <vt:lpstr>Times New Roman</vt:lpstr>
      <vt:lpstr>Wingdings</vt:lpstr>
      <vt:lpstr>Office Theme</vt:lpstr>
      <vt:lpstr>Aplicação Cloud Indústria 40 Python</vt:lpstr>
      <vt:lpstr> Aula 02  Plataformas Middleware,  Comunicação e Protocolos de Rede IoT</vt:lpstr>
      <vt:lpstr>Plataformas Middleware</vt:lpstr>
      <vt:lpstr>Plataformas Middleware</vt:lpstr>
      <vt:lpstr>Plataformas Middleware</vt:lpstr>
      <vt:lpstr>Plataformas Middleware</vt:lpstr>
      <vt:lpstr>Plataformas Middleware</vt:lpstr>
      <vt:lpstr>Plataformas Middleware</vt:lpstr>
      <vt:lpstr>Plataformas Middleware</vt:lpstr>
      <vt:lpstr>Plataformas Middleware</vt:lpstr>
      <vt:lpstr>Plataformas Middleware</vt:lpstr>
      <vt:lpstr>Plataformas Middleware</vt:lpstr>
      <vt:lpstr>Plataformas Middleware</vt:lpstr>
      <vt:lpstr>Plataformas Middleware</vt:lpstr>
      <vt:lpstr>Plataformas Middleware</vt:lpstr>
      <vt:lpstr>Plataformas Middleware</vt:lpstr>
      <vt:lpstr>Plataformas Middleware</vt:lpstr>
      <vt:lpstr>Plataformas de Comunicação IoT</vt:lpstr>
      <vt:lpstr>Plataformas Cloud IoT</vt:lpstr>
      <vt:lpstr>Plataformas Prototipação IoT</vt:lpstr>
      <vt:lpstr>Plataformas Middleware IoT</vt:lpstr>
      <vt:lpstr>Plataformas Middleware IoT</vt:lpstr>
      <vt:lpstr>Protocolos de Rede para IOT</vt:lpstr>
      <vt:lpstr>Protocolos de Rede para IOT</vt:lpstr>
      <vt:lpstr>Protocolos de Rede para IOT</vt:lpstr>
      <vt:lpstr>Protocolo Wi-fi de Rede para IOT</vt:lpstr>
      <vt:lpstr>Protocolos de Rede para IOT</vt:lpstr>
      <vt:lpstr>Exemplos de IOT</vt:lpstr>
      <vt:lpstr>Leitura Específica</vt:lpstr>
      <vt:lpstr>Aprenda+</vt:lpstr>
      <vt:lpstr>Dinâmica/Atividades</vt:lpstr>
      <vt:lpstr>Referências Bibliográficas</vt:lpstr>
      <vt:lpstr>Aplicação Cloud Indústria 40 Python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Nome da Disciplina</dc:title>
  <dc:creator>JOAO CAIRO FERREIRA</dc:creator>
  <cp:lastModifiedBy>Heleno Cardoso</cp:lastModifiedBy>
  <cp:revision>787</cp:revision>
  <dcterms:created xsi:type="dcterms:W3CDTF">2020-03-17T20:12:34Z</dcterms:created>
  <dcterms:modified xsi:type="dcterms:W3CDTF">2026-03-11T21:11:52Z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1033-11.1.0.9126</vt:lpwstr>
  </property>
</Properties>
</file>