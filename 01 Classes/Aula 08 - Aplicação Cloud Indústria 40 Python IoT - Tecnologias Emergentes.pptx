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91" r:id="rId3"/>
    <p:sldId id="350" r:id="rId4"/>
    <p:sldId id="358" r:id="rId5"/>
    <p:sldId id="353" r:id="rId6"/>
    <p:sldId id="347" r:id="rId7"/>
    <p:sldId id="351" r:id="rId8"/>
    <p:sldId id="349" r:id="rId9"/>
    <p:sldId id="354" r:id="rId10"/>
    <p:sldId id="355" r:id="rId11"/>
    <p:sldId id="356" r:id="rId12"/>
    <p:sldId id="357" r:id="rId13"/>
    <p:sldId id="352" r:id="rId14"/>
    <p:sldId id="360" r:id="rId15"/>
    <p:sldId id="361" r:id="rId16"/>
    <p:sldId id="359" r:id="rId17"/>
    <p:sldId id="363" r:id="rId18"/>
    <p:sldId id="364" r:id="rId19"/>
    <p:sldId id="362" r:id="rId20"/>
    <p:sldId id="365" r:id="rId21"/>
    <p:sldId id="348" r:id="rId22"/>
    <p:sldId id="367" r:id="rId23"/>
    <p:sldId id="366" r:id="rId24"/>
    <p:sldId id="333" r:id="rId25"/>
    <p:sldId id="323" r:id="rId26"/>
    <p:sldId id="345" r:id="rId27"/>
    <p:sldId id="369" r:id="rId28"/>
    <p:sldId id="368" r:id="rId29"/>
    <p:sldId id="337" r:id="rId30"/>
    <p:sldId id="309" r:id="rId3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8361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326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3114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896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9451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455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5258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7472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7535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776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3902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4366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3135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271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28239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3363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76318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01739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285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1148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8617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5160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5294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18362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im.mb.tu-dortmund.de/forschun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emas.folha.uol.com.br/inteligencia-artificial/os-limites-da-ia/superinteligencia-artificial-pode-levar-ao-fim-da-humanidade-entenda-riscos.s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ustria40.ind.br/artigo/18130-simulacao-na-industria-40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itorio.ufc.br/bitstream/riufc/60805/1/2017_eve_mralbertin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ey.com/pt_br/consulting/how-emerging-technologies-can-usher-in-the-dawn-of-pervasive-intelligence" TargetMode="External"/><Relationship Id="rId5" Type="http://schemas.openxmlformats.org/officeDocument/2006/relationships/hyperlink" Target="http://educa.fcc.org.br/scielo.php?pid=S2178-52012020000100124&amp;script=sci_arttext" TargetMode="External"/><Relationship Id="rId4" Type="http://schemas.openxmlformats.org/officeDocument/2006/relationships/hyperlink" Target="https://skyone.solutions/hub/tendencias-de-inovacao-na-industria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rtaldaindustria.com.br/industria-de-a-z/industria-4-0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g_JJ9fRGio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20-beginner-python-project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pdy3nh1tn6I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/CodeWithTomi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youtu.be/WNvxR8RFzBg" TargetMode="External"/><Relationship Id="rId5" Type="http://schemas.openxmlformats.org/officeDocument/2006/relationships/hyperlink" Target="https://youtu.be/jBzwzrDvZ18" TargetMode="External"/><Relationship Id="rId4" Type="http://schemas.openxmlformats.org/officeDocument/2006/relationships/hyperlink" Target="https://www.freecodecamp.org/news/backend-web-development-with-python-full-course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08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Tecnologias Emergentes na Manipulação de Dados em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rgbClr val="3B3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principal objetivo</a:t>
            </a:r>
            <a:r>
              <a:rPr lang="pt-BR" sz="2400" b="0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é:</a:t>
            </a:r>
          </a:p>
          <a:p>
            <a:pPr marL="0" indent="0" algn="just">
              <a:buNone/>
            </a:pPr>
            <a:endParaRPr lang="pt-BR" sz="2400" dirty="0">
              <a:solidFill>
                <a:srgbClr val="3B39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0" i="0" dirty="0">
              <a:solidFill>
                <a:srgbClr val="3B39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0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Tornar a </a:t>
            </a:r>
            <a:r>
              <a:rPr lang="pt-BR" sz="2400" b="1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manufatura</a:t>
            </a:r>
            <a:r>
              <a:rPr lang="pt-BR" sz="2400" b="0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mais 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rápida, eficiente e inteligente</a:t>
            </a:r>
            <a:r>
              <a:rPr lang="pt-BR" sz="2400" b="0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por meio das </a:t>
            </a:r>
            <a:r>
              <a:rPr lang="pt-BR" sz="2400" b="1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tecnologias da informação</a:t>
            </a:r>
            <a:r>
              <a:rPr lang="pt-BR" sz="2400" b="0" i="0" dirty="0">
                <a:solidFill>
                  <a:srgbClr val="3B39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6795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Máquinas inteligentes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sistemas de armazenamento e instalações capazes de autonomamente trocar informações,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desencadeando ações e controlando umas às outras de maneira independente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Alçar 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 de automação da manufatura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um nível maior de cooperação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 máquinas e humanos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que envolve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coleta e análise de dados, recomendações 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tomada de decisão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maquínica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18712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Indústria 4.0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Fábricas Inteligentes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um conceito que representa a automação industrial, integração de processos e a integração de diferentes tecnologias, com o objetivo de promover a digitalização das atividades industriais melhorando os processos e aumentando a produtividade, tais como: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Robótica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Computer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-físicos</a:t>
            </a:r>
          </a:p>
        </p:txBody>
      </p:sp>
    </p:spTree>
    <p:extLst>
      <p:ext uri="{BB962C8B-B14F-4D97-AF65-F5344CB8AC3E}">
        <p14:creationId xmlns:p14="http://schemas.microsoft.com/office/powerpoint/2010/main" val="203753011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Movimentos/Impacto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Revolução Industrial – 2011 Alemanha -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Competitividade)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Mecanização da Manufatura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1784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o homem passou a deixar de utilizar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de produção artesanais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começou a se importar com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de produção por máquinas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Produção em Massa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1870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 fabricação de grandes quantidades de itens a baixo custo, utilizando mão de obra pouco qualificada, mantendo um certo padrão de qualidade.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uso da tecnologia para controlar e tornar autônoma a execução de tarefas, funções e mecanismos com objetivo de otimizar a cadeia produtiva.</a:t>
            </a:r>
          </a:p>
        </p:txBody>
      </p:sp>
    </p:spTree>
    <p:extLst>
      <p:ext uri="{BB962C8B-B14F-4D97-AF65-F5344CB8AC3E}">
        <p14:creationId xmlns:p14="http://schemas.microsoft.com/office/powerpoint/2010/main" val="17544247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Portanto, na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indústria 4.0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com todas as ferramentas que entram no seu escopo, é fundida com o domínio industrial para: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 rapidez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Precisão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as máquinas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Tornando-as capazes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tomar decisões sozinha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sem interferência humana. </a:t>
            </a:r>
          </a:p>
        </p:txBody>
      </p:sp>
    </p:spTree>
    <p:extLst>
      <p:ext uri="{BB962C8B-B14F-4D97-AF65-F5344CB8AC3E}">
        <p14:creationId xmlns:p14="http://schemas.microsoft.com/office/powerpoint/2010/main" val="260585408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Princípios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7270"/>
            <a:ext cx="8865056" cy="39202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Interoperabilidade ou conectividade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Trata-se da capacidade de garantir conexão, troca de informação e colaboração relevante tanto entre os sistemas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ciber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-físicos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si quanto entre eles e as pessoas.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Virtualização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sistema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ciber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-físico é capaz de monitorar processos físicos por meio da simulação e da criação de cópias de elementos reais alimentadas por dados obtidos por meio de sensores. 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 virtude disso, a virtualização só é possível quando a interoperabilidade está garantida. </a:t>
            </a:r>
          </a:p>
        </p:txBody>
      </p:sp>
    </p:spTree>
    <p:extLst>
      <p:ext uri="{BB962C8B-B14F-4D97-AF65-F5344CB8AC3E}">
        <p14:creationId xmlns:p14="http://schemas.microsoft.com/office/powerpoint/2010/main" val="119376625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Princípios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7270"/>
            <a:ext cx="8865056" cy="39202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 real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É a capacidade de trabalhar em tempo real, tomando decisões com base em novos achados ou predições.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Descentralização ou autonomia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capacidade de tomar decisões é distribuída e independente, não centralizada, aumentando a capacidade de resolver problemas assim que eles surgem, onde eles surgem. Com isso, o ambiente operacional garante flexibilidade.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94667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Princípios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7270"/>
            <a:ext cx="8865056" cy="39202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Modularidade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capacidade de se adaptar a mudanças abruptas no contexto e nas condições com rapidez e sem grandes impactos.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Orientação a serviços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 operações específicas do produto podem ser compostas com base nas exigências específicas do cliente, aproximando a oferta de bens à de serviços personalizados.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https://iim.mb.tu-dortmund.de/forschung/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12620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Tecnologias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7270"/>
            <a:ext cx="8865056" cy="39202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Vapor, energia elétrica e eletrônica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foram cruciais nas três primeiras revoluções industriais.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Agora, falamos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máquinas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trabalham em rede por meio de tecnologias de informação e comunicação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ICTs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nos chamados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sistemas de produção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ciber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-físicos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CPPS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Cyber-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Systems).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meio 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tecnologias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indústria 4.0 está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transformando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paisagem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manufatura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695757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Tecnologias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7270"/>
            <a:ext cx="8865056" cy="39202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EDF393-ED8E-A959-A2D9-519295FBC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238" y="1001659"/>
            <a:ext cx="4663250" cy="409496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7D9A01-7381-BEEC-C770-7829A8ED8B43}"/>
              </a:ext>
            </a:extLst>
          </p:cNvPr>
          <p:cNvSpPr txBox="1"/>
          <p:nvPr/>
        </p:nvSpPr>
        <p:spPr>
          <a:xfrm>
            <a:off x="4714549" y="909565"/>
            <a:ext cx="1480421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1600" b="1" i="0" dirty="0">
                <a:solidFill>
                  <a:srgbClr val="FF0000"/>
                </a:solidFill>
                <a:effectLst/>
                <a:latin typeface="Google Sans"/>
              </a:rPr>
              <a:t>impressão 3D</a:t>
            </a:r>
            <a:endParaRPr lang="pt-BR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91064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Vantagens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Flexibilidade e dinâmica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Maior produtividade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Menores custos de produção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Qualidade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Confiabilidade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Sustentabilidade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Melhores condições de trabalho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Customização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Agilidade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Inovação e novos modelos de negócio </a:t>
            </a:r>
          </a:p>
        </p:txBody>
      </p:sp>
    </p:spTree>
    <p:extLst>
      <p:ext uri="{BB962C8B-B14F-4D97-AF65-F5344CB8AC3E}">
        <p14:creationId xmlns:p14="http://schemas.microsoft.com/office/powerpoint/2010/main" val="122558556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Dificuldades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conhecimento e skills internamente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Encontrar pessoas com expertise suficiente, sobre o que fazer e o que não fazer é uma das dificuldades mais comuns na transformação para a indústria 4.0.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em tecnologia apenas, não no valor para o negócio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olhar dos gestores para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 tecnológico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puro e simples, mais do que ao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 de negócio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110881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Dificuldades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 das iniciativas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Exige investimentos em novas tecnologias, o que torna suas iniciativas, mesmo locais, caras, assim como escalá-las. 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(construir-medir-aprender),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Abordagem holística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Visão de mundo e de homem integral, propondo-se a ter um olhar diferenciado sobre a realidade, e ampliando a visão que temos do mundo e nossa relação com ele, valorizando: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lado emocional, racional, corporal, nossa imaginação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1739950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IA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soluções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inteligentes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podem utilizar 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altos volumes de dados gerados por uma fábrica para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identificar tendências e padrões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podem ser usados para tornar 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processos de fabricação mais eficientes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reduzir seu consumo de energia.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de IA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seguir.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 Limitada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...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 Geral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... futuro ....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Superinteligência Artificial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... superação da mente humana, riscos ...</a:t>
            </a:r>
          </a:p>
        </p:txBody>
      </p:sp>
    </p:spTree>
    <p:extLst>
      <p:ext uri="{BB962C8B-B14F-4D97-AF65-F5344CB8AC3E}">
        <p14:creationId xmlns:p14="http://schemas.microsoft.com/office/powerpoint/2010/main" val="424004864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IA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 Limita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IA fraca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Armazenam uma grande quantidade de dados e realizam tarefas complexas, porém sempre focadas no objetivo para o qual foram programadas.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 Geral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IA forte.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Baseia-se na combinação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grandes volumes de dados digitais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algoritmos inteligentes. Permitem ao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ler e interpretar padrões e informações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aprender automaticamente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6096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IA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29462"/>
            <a:ext cx="8865056" cy="390805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Superinteligência Artificial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É a denominação dada a um intelecto muito superior aos melhores cérebros humanos atuais em praticamente todas as áreas, incluindo criatividade científica, sabedoria geral e habilidade social.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Superinteligência Artificial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 levar ao fim da humanidade?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Apocalipse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ocasionado pela IA.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https://temas.folha.uol.com.br/inteligencia-artificial/os-limites-da-ia/superinteligencia-artificial-pode-levar-ao-fim-da-humanidade-entenda-riscos.shtml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52938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Tools Simulação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É uma solução que reproduz com exatidão as condições reais da operação industrial, garantindo previsibilidade e fornecendo dados de forma segura e assertiva.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Os dados podem ser utilizados estrategicamente em todas as etapas da cadeia produtiva, incluindo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pré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pós-produção.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https://www.industria40.ind.br/artigo/18130-simulacao-na-industria-40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8703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Tools Simulação na Indústria 4.0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É a reprodução virtual de processos e ambientes de desenvolvimento e manufatura fabril. Virtualizar o funcionamento das plantas e procedimentos industrias, exemplo: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 Simulator 17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Cars 2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Empire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Cities: Skylines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Building Simulator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X-Plane 11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Stardew Valley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 Truck Simulator 2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22611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70C0"/>
                </a:solidFill>
              </a:rPr>
              <a:t>Tecnologias Emergentes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05078"/>
            <a:ext cx="8865056" cy="393244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Uma tecnologia emergente é aquela que não impacta apenas o mundo dos negócios, mas também toda a sociedade.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São inovações que têm enorme potencial de modificar como interagimos com o mundo.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Cabe às empresas encontrar maneiras estratégicas de empregá-las para transformar a experiência do usuário, simplificar o dia a dia ou repensar processos onerosos e prejudiciais ao meio ambiente.</a:t>
            </a:r>
          </a:p>
        </p:txBody>
      </p:sp>
    </p:spTree>
    <p:extLst>
      <p:ext uri="{BB962C8B-B14F-4D97-AF65-F5344CB8AC3E}">
        <p14:creationId xmlns:p14="http://schemas.microsoft.com/office/powerpoint/2010/main" val="41307977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70C0"/>
                </a:solidFill>
              </a:rPr>
              <a:t>Tecnologias Emergentes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05078"/>
            <a:ext cx="8865056" cy="393244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Learnig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–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Augmented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Reality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 - Virtual Reality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– Realidade Mista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 – Todas as formas de realidade alterada</a:t>
            </a:r>
          </a:p>
        </p:txBody>
      </p:sp>
    </p:spTree>
    <p:extLst>
      <p:ext uri="{BB962C8B-B14F-4D97-AF65-F5344CB8AC3E}">
        <p14:creationId xmlns:p14="http://schemas.microsoft.com/office/powerpoint/2010/main" val="206717498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Tecnologias Emergentes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05078"/>
            <a:ext cx="8865056" cy="393244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Cleantechs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SmartCities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 6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Computação Cognitiva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Metaverso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Simulação em 3D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Prototipagem, Design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Sistemas autônomos</a:t>
            </a:r>
          </a:p>
        </p:txBody>
      </p:sp>
    </p:spTree>
    <p:extLst>
      <p:ext uri="{BB962C8B-B14F-4D97-AF65-F5344CB8AC3E}">
        <p14:creationId xmlns:p14="http://schemas.microsoft.com/office/powerpoint/2010/main" val="191459123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7270"/>
            <a:ext cx="8865056" cy="39202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Inovações Tecnológicas na Indústria 4.0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https://repositorio.ufc.br/bitstream/riufc/60805/1/2017_eve_mralbertin.pdf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https://skyone.solutions/hub/tendencias-de-inovacao-na-industria/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Tecnologias Emergentes na Indústria 4.0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http://educa.fcc.org.br/scielo.php?pid=S2178-52012020000100124&amp;script=sci_arttext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  <a:hlinkClick r:id="rId6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https://www.ey.com/pt_br/consulting/how-emerging-technologies-can-usher-in-the-dawn-of-pervasive-intelligence</a:t>
            </a:r>
            <a:endParaRPr lang="pt-BR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Indústria 4.0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https://www.portaldaindustria.com.br/industria-de-a-z/industria-4-0/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Inovações Tecnológicas na Indústria 4.0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https://youtu.be/g_JJ9fRGioI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Praticar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Reproduzir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Soluções Python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Tomi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Tokko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(Quick Response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Beginner Python Projects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https://www.freecodecamp.org/news/20-beginner-python-projects/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https://youtu.be/pdy3nh1tn6I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9764297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r>
              <a:rPr lang="en-US" b="1" dirty="0">
                <a:solidFill>
                  <a:srgbClr val="0070C0"/>
                </a:solidFill>
              </a:rPr>
              <a:t> API Web Django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Build A Realtime Chat App With Django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https://www.youtube.com/c/CodeWithTomi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Web Development Full Course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https://www.freecodecamp.org/news/backend-web-development-with-python-full-course/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https://youtu.be/jBzwzrDvZ18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Python for Web Development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https://youtu.be/WNvxR8RFzBg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49258859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Praticar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Soluções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Freecodecamp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(Livre)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https://www.freecodecamp.org/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983039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FRANÇA, Gabriel Augusto et 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 tecnologias emergentes nos processos de inspeção da produção no conceito de indústria 4.0. REGRASP-Revista para Graduandos/IFSP-Câmpus São Paulo, v. 4, n. 3, p. 50-66, 2019.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SACOMANO, José Benedito et 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Indústria 4.0. Editora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Blucher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</a:t>
            </a: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Calibri" panose="020F0502020204030204" pitchFamily="34" charset="0"/>
              </a:rPr>
              <a:t>[3]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ABREU, Cleyde Evangelista Maia et al</a:t>
            </a:r>
            <a:r>
              <a:rPr lang="pt-BR" sz="2000" dirty="0">
                <a:latin typeface="Calibri" panose="020F0502020204030204" pitchFamily="34" charset="0"/>
              </a:rPr>
              <a:t>. Indústria 4.0: Como as empresas estão utilizando a simulação para se preparar para o futuro. Revista de Ciências Exatas e Tecnologia, v. 12, n. 12, p. 49-53, 2017.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3309</TotalTime>
  <Words>1670</Words>
  <Application>Microsoft Office PowerPoint</Application>
  <PresentationFormat>Apresentação na tela (16:9)</PresentationFormat>
  <Paragraphs>211</Paragraphs>
  <Slides>30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Arial</vt:lpstr>
      <vt:lpstr>Calibri</vt:lpstr>
      <vt:lpstr>Google Sans</vt:lpstr>
      <vt:lpstr>Times New Roman</vt:lpstr>
      <vt:lpstr>Wingdings</vt:lpstr>
      <vt:lpstr>Office Theme</vt:lpstr>
      <vt:lpstr>Aplicação Cloud Indústria 40 Python</vt:lpstr>
      <vt:lpstr> Aula 08  Tecnologias Emergentes na Manipulação de Dados em Python</vt:lpstr>
      <vt:lpstr>Indústria 4.0</vt:lpstr>
      <vt:lpstr>Indústria 4.0</vt:lpstr>
      <vt:lpstr>Indústria 4.0</vt:lpstr>
      <vt:lpstr>Indústria 4.0</vt:lpstr>
      <vt:lpstr>Indústria 4.0</vt:lpstr>
      <vt:lpstr>Princípios na Indústria 4.0</vt:lpstr>
      <vt:lpstr>Princípios na Indústria 4.0</vt:lpstr>
      <vt:lpstr>Princípios na Indústria 4.0</vt:lpstr>
      <vt:lpstr>Tecnologias na Indústria 4.0</vt:lpstr>
      <vt:lpstr>Tecnologias na Indústria 4.0</vt:lpstr>
      <vt:lpstr>Vantagens na Indústria 4.0</vt:lpstr>
      <vt:lpstr>Dificuldades na Indústria 4.0</vt:lpstr>
      <vt:lpstr>Dificuldades na Indústria 4.0</vt:lpstr>
      <vt:lpstr>IA na Indústria 4.0</vt:lpstr>
      <vt:lpstr>IA na Indústria 4.0</vt:lpstr>
      <vt:lpstr>IA na Indústria 4.0</vt:lpstr>
      <vt:lpstr>Tools Simulação na Indústria 4.0</vt:lpstr>
      <vt:lpstr>Tools Simulação na Indústria 4.0</vt:lpstr>
      <vt:lpstr>Tecnologias Emergentes</vt:lpstr>
      <vt:lpstr>Tecnologias Emergentes</vt:lpstr>
      <vt:lpstr>Tecnologias Emergentes</vt:lpstr>
      <vt:lpstr>Leitura Específica</vt:lpstr>
      <vt:lpstr>Aprenda+</vt:lpstr>
      <vt:lpstr>Dinâmica/Atividades</vt:lpstr>
      <vt:lpstr>Dinâmica/Atividades API Web Django</vt:lpstr>
      <vt:lpstr>Dinâmica/Atividades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804</cp:revision>
  <dcterms:created xsi:type="dcterms:W3CDTF">2020-03-17T20:12:34Z</dcterms:created>
  <dcterms:modified xsi:type="dcterms:W3CDTF">2026-04-30T14:51:50Z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