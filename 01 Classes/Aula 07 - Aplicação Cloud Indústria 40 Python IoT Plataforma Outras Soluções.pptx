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91" r:id="rId3"/>
    <p:sldId id="347" r:id="rId4"/>
    <p:sldId id="348" r:id="rId5"/>
    <p:sldId id="349" r:id="rId6"/>
    <p:sldId id="350" r:id="rId7"/>
    <p:sldId id="351" r:id="rId8"/>
    <p:sldId id="352" r:id="rId9"/>
    <p:sldId id="353" r:id="rId10"/>
    <p:sldId id="359" r:id="rId11"/>
    <p:sldId id="360" r:id="rId12"/>
    <p:sldId id="361" r:id="rId13"/>
    <p:sldId id="362" r:id="rId14"/>
    <p:sldId id="354" r:id="rId15"/>
    <p:sldId id="355" r:id="rId16"/>
    <p:sldId id="356" r:id="rId17"/>
    <p:sldId id="358" r:id="rId18"/>
    <p:sldId id="357" r:id="rId19"/>
    <p:sldId id="333" r:id="rId20"/>
    <p:sldId id="323" r:id="rId21"/>
    <p:sldId id="345" r:id="rId22"/>
    <p:sldId id="337" r:id="rId23"/>
    <p:sldId id="309" r:id="rId24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Estilo Claro 2 - Ênfas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47" autoAdjust="0"/>
    <p:restoredTop sz="83649" autoAdjust="0"/>
  </p:normalViewPr>
  <p:slideViewPr>
    <p:cSldViewPr snapToGrid="0">
      <p:cViewPr>
        <p:scale>
          <a:sx n="100" d="100"/>
          <a:sy n="100" d="100"/>
        </p:scale>
        <p:origin x="-168" y="-330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7397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289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27313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380320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637717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005201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89852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718284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70175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714974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060167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253030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77545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57880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800074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07114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004839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635160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457203" y="204787"/>
            <a:ext cx="3008315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73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3575052" y="204789"/>
            <a:ext cx="5111749" cy="438983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half" idx="13"/>
          </p:nvPr>
        </p:nvSpPr>
        <p:spPr>
          <a:xfrm>
            <a:off x="457198" y="1076326"/>
            <a:ext cx="3008316" cy="3518297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roups.google.com/forum/#!forum/python-brasil" TargetMode="External"/><Relationship Id="rId7" Type="http://schemas.openxmlformats.org/officeDocument/2006/relationships/hyperlink" Target="http://pythonbrasil.github.io/wiki/comunidades-locai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groups.google.com/forum/#!forum/flask-brasil" TargetMode="External"/><Relationship Id="rId5" Type="http://schemas.openxmlformats.org/officeDocument/2006/relationships/hyperlink" Target="https://groups.google.com/forum/#!forum/web2py-users-brazil" TargetMode="External"/><Relationship Id="rId4" Type="http://schemas.openxmlformats.org/officeDocument/2006/relationships/hyperlink" Target="https://groups.google.com/forum/#!forum/django-brasi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etbrains.com/pt-br/pycharm/download/#section=window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etbrains.com/pt-br/pycharm/download/#section=mac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ument?repid=rep1&amp;type=pdf&amp;doi=1f2ee3831eebfc97bfafd514ca2abb7e2c5c86bb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novatec.com.br/livros/padroes-projeto-python/" TargetMode="External"/><Relationship Id="rId5" Type="http://schemas.openxmlformats.org/officeDocument/2006/relationships/hyperlink" Target="https://refactoring.guru/pt-br/design-patterns/python" TargetMode="External"/><Relationship Id="rId4" Type="http://schemas.openxmlformats.org/officeDocument/2006/relationships/hyperlink" Target="https://www.jmlr.org/papers/volume13/desmedt12a/desmedt12a.pdf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mEmlnvBcBw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youtu.be/oyQ8jK24IWg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tuttgart/pycep-correios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Aplicação Cloud Indústria 40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D9A56D89-1300-762A-5BD5-16B3C4E998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br>
              <a:rPr lang="pt-BR" b="1" dirty="0">
                <a:solidFill>
                  <a:schemeClr val="bg1"/>
                </a:solidFill>
              </a:rPr>
            </a:br>
            <a:r>
              <a:rPr lang="pt-BR" b="1">
                <a:solidFill>
                  <a:schemeClr val="bg1"/>
                </a:solidFill>
              </a:rPr>
              <a:t>Aula 07</a:t>
            </a:r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	</a:t>
            </a:r>
            <a:r>
              <a:rPr lang="pt-BR" sz="3600" b="1" dirty="0">
                <a:solidFill>
                  <a:schemeClr val="bg1"/>
                </a:solidFill>
              </a:rPr>
              <a:t>Outras Soluções em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4" name="Google Shape;62;p1" descr="Imagem">
            <a:extLst>
              <a:ext uri="{FF2B5EF4-FFF2-40B4-BE49-F238E27FC236}">
                <a16:creationId xmlns:a16="http://schemas.microsoft.com/office/drawing/2014/main" id="{652F850C-6AD9-5CD4-839F-152858F1361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Outras Soluções em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usada por empresas como Intel, NASA, Netflix,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Spotify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IBM, uma das linguagens mais utilizadas em instituições financeiras e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fintechs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dentre outras.</a:t>
            </a: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É versátil, fácil de ler e usado para tudo, desde desenvolvimento web até aprendizado de máquina.</a:t>
            </a: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Usada em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 indústria 4.0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442478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Comunidades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 Brasil -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https://groups.google.com/forum/#!forum/python-brasil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Django Brasil -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https://groups.google.com/forum/#!forum/django-brasil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Web2py Brasil -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https://groups.google.com/forum/#!forum/web2py-users-brazil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Brasil -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https://groups.google.com/forum/#!forum/flask-brasil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Comunidades locais da comunidade Python ao redor do Brasil -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http://pythonbrasil.github.io/wiki/comunidades-locais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9346291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no Windows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muito bom para quem deseja criar projetos grandes, além de auxiliar com o preenchimento automático dos códigos e até dá algumas dicas.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e instalação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link: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https://www.jetbrains.com/pt-br/pycharm/download/#section=windows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Verificar se o Python 3 está instalado executando o seguinte comando: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python3 –V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Executar o Python 3, basta rodar o comando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python3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terminal.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375974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no Linux Ubuntu/Debian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SO baseados no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Ubuntu/Debian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já possuem 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 3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pré-instalado, mas o comandos para instalá-lo pelo terminal é: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apt-get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apt-get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python3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Verificar se o Python 3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python3 -V</a:t>
            </a:r>
          </a:p>
        </p:txBody>
      </p:sp>
    </p:spTree>
    <p:extLst>
      <p:ext uri="{BB962C8B-B14F-4D97-AF65-F5344CB8AC3E}">
        <p14:creationId xmlns:p14="http://schemas.microsoft.com/office/powerpoint/2010/main" val="1111239744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no MacOS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Temos duas opções, através do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Homebrew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fazemos: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brew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brew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python3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 caso você não utiliza 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Homebrew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baixar o instalador do Python através do seu site oficial,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https://www.jetbrains.com/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pt-br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/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pycharm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/download/#section=mac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Verificar se o Python 3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python3 -V</a:t>
            </a:r>
          </a:p>
        </p:txBody>
      </p:sp>
    </p:spTree>
    <p:extLst>
      <p:ext uri="{BB962C8B-B14F-4D97-AF65-F5344CB8AC3E}">
        <p14:creationId xmlns:p14="http://schemas.microsoft.com/office/powerpoint/2010/main" val="3894280324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Python </a:t>
            </a:r>
            <a:r>
              <a:rPr lang="pt-BR" b="1" dirty="0" err="1">
                <a:solidFill>
                  <a:srgbClr val="0070C0"/>
                </a:solidFill>
              </a:rPr>
              <a:t>Jupyter</a:t>
            </a:r>
            <a:r>
              <a:rPr lang="pt-BR" b="1" dirty="0">
                <a:solidFill>
                  <a:srgbClr val="0070C0"/>
                </a:solidFill>
              </a:rPr>
              <a:t> - Data Science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Diferente do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um pouco mais pesado e ele vai ser indicado para trabalhar com análise de dados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ciência de dados, business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inteligence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https://jupyter.org/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76744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Áreas de Aplicações com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Automações em Python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Automatizar tarefas repetitivas e otimizar processos.</a:t>
            </a:r>
          </a:p>
          <a:p>
            <a:pPr marL="0" indent="0" algn="just">
              <a:buNone/>
            </a:pP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pt-BR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Automação web, busca na internet, preenchimento de formulário, etc.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BeautifulSoup</a:t>
            </a:r>
            <a:r>
              <a:rPr lang="pt-BR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Buscar informações de sites automaticamente, lembre-se que esta não é única 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solução possível, é apenas o que recomendo hoje para estas tarefas.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Playwright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buscar informações online, automatizar processos dentro do navegador.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Pyautogui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para automatizar aplicativos dentro do seu computador, basicamente ele controla o mouse, o teclado e a tela, automação por meio de robôs.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urllib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essas são duas bibliotecas importantíssimas para interagir com sites online, buscar informações, interagir com API, etc.</a:t>
            </a:r>
          </a:p>
        </p:txBody>
      </p:sp>
    </p:spTree>
    <p:extLst>
      <p:ext uri="{BB962C8B-B14F-4D97-AF65-F5344CB8AC3E}">
        <p14:creationId xmlns:p14="http://schemas.microsoft.com/office/powerpoint/2010/main" val="3507580569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Áreas de Aplicações com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Área de dados em Python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Pandas 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Uma das funções do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permitir integrar o Python com o Excel, além de outras integrações com o 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que consegue otimizar, trabalhando com um grande volume de dados.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Gráficos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Dominar bibliotecas de gráficos.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Dashboards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Para trabalhar com Dashboards você vai precisar integrar o Python com o Power BI ou utilizar bibliotecas especializadas do Python que podem ir além, criando pequenos sites visuais para sua apresentação.</a:t>
            </a:r>
          </a:p>
        </p:txBody>
      </p:sp>
    </p:spTree>
    <p:extLst>
      <p:ext uri="{BB962C8B-B14F-4D97-AF65-F5344CB8AC3E}">
        <p14:creationId xmlns:p14="http://schemas.microsoft.com/office/powerpoint/2010/main" val="554931909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Áreas de Aplicações com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29462"/>
            <a:ext cx="8865056" cy="390805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Inteligência Artificial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ScikitLearn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Esta é a primeira grande biblioteca de inteligência artificial, dependendo da área de inteligência artificial que você queira atuar vão existir outras bibliotecas como: </a:t>
            </a:r>
            <a:r>
              <a:rPr lang="pt-BR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Cada uma dessas bibliotecas é especializada em uma área diferente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TensorFlow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Keras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Nitk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PyTorch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331513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Áreas de Aplicações com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Criação de sistemas Web /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Criação de sites com Python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Frameworks que geralmente as empresas trabalham para a criação de sites e APIs: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Django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ideal é que você domine muito bem pelo menos um deles e tenha uma boa noção do outro.</a:t>
            </a:r>
          </a:p>
        </p:txBody>
      </p:sp>
    </p:spTree>
    <p:extLst>
      <p:ext uri="{BB962C8B-B14F-4D97-AF65-F5344CB8AC3E}">
        <p14:creationId xmlns:p14="http://schemas.microsoft.com/office/powerpoint/2010/main" val="3771568055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Áreas de Aplicações com Python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53846"/>
            <a:ext cx="8865056" cy="396925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Criação de sistemas para rodar dentro do computador – Aplicativos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Python a mesma aplicação que faz o APP faz também o programa. Criar um único programa que consegue rodar no computador, no IOS, no androide, etc.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Kivy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-&gt; Cria programas para rodar dentro do seu PC, aplicativos para celular, esta aplicação faz tanto a tela quanto a parte de códigos por trás e a parte visual.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Telas para rodar o seu código: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PyQTS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Tkinter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167840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Exemplo Python Financeiro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python.exe -m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--upgrade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extensão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ipykernell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pandas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pandas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pd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872884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Exemplo Python Financeiro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pandas_datareader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pandas_datareader.data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web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matplotlib.pyplot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plt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yfinance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yfinance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3516574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Exemplo Python Financeiro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yf.pdr_override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Bolsa Bovespa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web.get_data_yahoo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('^BVSP')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['Close'].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']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['Close'] -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['Open’]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ibov.sort_values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=['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'],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ascending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[:10]</a:t>
            </a:r>
          </a:p>
        </p:txBody>
      </p:sp>
    </p:spTree>
    <p:extLst>
      <p:ext uri="{BB962C8B-B14F-4D97-AF65-F5344CB8AC3E}">
        <p14:creationId xmlns:p14="http://schemas.microsoft.com/office/powerpoint/2010/main" val="3315575994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Exemplo Python Financeiro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Bolsa Google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web.get_data_yahoo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('GOOG')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google['Close'].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#google['Dif'] = google['Close'] - google['Open’]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googleM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google.resample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('M').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35104910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0070C0"/>
                </a:solidFill>
              </a:rPr>
              <a:t>Exemplo Python Financeiro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python.exe -m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--upgrade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extensão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ipykernell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pandas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pandas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pd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pandas_datareader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pandas_datareader.data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web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matplotlib.pyplot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plt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yfinance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yfinance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yf.pdr_override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web.get_data_yahoo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('^BVSP')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['Close'].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']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['Close'] -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['Open']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ibov.sort_values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=['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'],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ascending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[:10]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web.get_data_yahoo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('GOOG')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google['Close'].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#google['Dif'] = google['Close'] - google['Open']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googleM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google.resample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('M').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8803620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6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Python para desenvolvedores: aborda Python 3.3.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https://citeseerx.ist.psu.edu/document?repid=rep1&amp;type=pdf&amp;doi=1f2ee3831eebfc97bfafd514ca2abb7e2c5c86bb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Pattern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Python.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https://www.jmlr.org/papers/volume13/desmedt12a/desmedt12a.pdf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    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https://refactoring.guru/pt-br/design-patterns/python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    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https://novatec.com.br/livros/padroes-projeto-python/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pt-BR" sz="20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Bolsa de Valores com Python | Minuto Data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Scienc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https://youtu.be/FmEmlnvBcBw</a:t>
            </a:r>
            <a:endParaRPr lang="pt-BR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Solução de PIX que Você Precisa Usar em seus Projetos. 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https://youtu.be/oyQ8jK24IWg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87429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PyCEPCorreios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uma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desenvolvida em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Python,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webservice dos Correios, O retorno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https://github.com/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mstuttgart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/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pycep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-correios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pycep_correios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 pip3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pycep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-correios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pycep_correios.exceptions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CEPInvalido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try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pycep_correios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16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get_address_from_cep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('41720075') # CEP: 37503130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['logradouro']);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['bairro']);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['cidade'])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['complemento']);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['uf']);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endereco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['cep'])</a:t>
            </a:r>
          </a:p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except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16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('CEP Inválido',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sua própria rotina em Python para consultar a API do VIACEP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97642976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591305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FONTENROSE, Joseph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Python. University of California Press, 1959.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 SMEDT, Tom; DAELEMANS, Walter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Pattern for python. The Journal of Machine Learning Research, v. 13, n. 1, p. 2063-2067, 2012.</a:t>
            </a:r>
            <a:endParaRPr lang="pt-BR" sz="20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endParaRPr lang="pt-BR" sz="20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Calibri" panose="020F0502020204030204" pitchFamily="34" charset="0"/>
              </a:rPr>
              <a:t>[3] </a:t>
            </a:r>
            <a:r>
              <a:rPr lang="pt-BR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BORGES, Luiz Eduardo</a:t>
            </a:r>
            <a:r>
              <a:rPr lang="pt-BR" sz="2000" dirty="0">
                <a:latin typeface="Calibri" panose="020F0502020204030204" pitchFamily="34" charset="0"/>
              </a:rPr>
              <a:t>. Python para desenvolvedores: aborda Python 3.3. </a:t>
            </a:r>
            <a:r>
              <a:rPr lang="pt-BR" sz="2000" dirty="0" err="1">
                <a:latin typeface="Calibri" panose="020F0502020204030204" pitchFamily="34" charset="0"/>
              </a:rPr>
              <a:t>Novatec</a:t>
            </a:r>
            <a:r>
              <a:rPr lang="pt-BR" sz="2000" dirty="0">
                <a:latin typeface="Calibri" panose="020F0502020204030204" pitchFamily="34" charset="0"/>
              </a:rPr>
              <a:t> Editora, 2014.</a:t>
            </a:r>
          </a:p>
          <a:p>
            <a:pPr marL="0" indent="0" algn="just">
              <a:buNone/>
            </a:pPr>
            <a:endParaRPr lang="pt-BR" sz="20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Calibri" panose="020F0502020204030204" pitchFamily="34" charset="0"/>
              </a:rPr>
              <a:t>[4] </a:t>
            </a:r>
            <a:r>
              <a:rPr lang="pt-BR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VAN ROSSUM, Guido; DRAKE JR, Fred L</a:t>
            </a:r>
            <a:r>
              <a:rPr lang="pt-BR" sz="2000" dirty="0">
                <a:latin typeface="Calibri" panose="020F0502020204030204" pitchFamily="34" charset="0"/>
              </a:rPr>
              <a:t>. Python tutorial. Amsterdam, The Netherlands: </a:t>
            </a:r>
            <a:r>
              <a:rPr lang="pt-BR" sz="2000" dirty="0" err="1">
                <a:latin typeface="Calibri" panose="020F0502020204030204" pitchFamily="34" charset="0"/>
              </a:rPr>
              <a:t>Centrum</a:t>
            </a:r>
            <a:r>
              <a:rPr lang="pt-BR" sz="2000" dirty="0">
                <a:latin typeface="Calibri" panose="020F0502020204030204" pitchFamily="34" charset="0"/>
              </a:rPr>
              <a:t> </a:t>
            </a:r>
            <a:r>
              <a:rPr lang="pt-BR" sz="2000" dirty="0" err="1">
                <a:latin typeface="Calibri" panose="020F0502020204030204" pitchFamily="34" charset="0"/>
              </a:rPr>
              <a:t>voor</a:t>
            </a:r>
            <a:r>
              <a:rPr lang="pt-BR" sz="2000" dirty="0">
                <a:latin typeface="Calibri" panose="020F0502020204030204" pitchFamily="34" charset="0"/>
              </a:rPr>
              <a:t> </a:t>
            </a:r>
            <a:r>
              <a:rPr lang="pt-BR" sz="2000" dirty="0" err="1">
                <a:latin typeface="Calibri" panose="020F0502020204030204" pitchFamily="34" charset="0"/>
              </a:rPr>
              <a:t>Wiskunde</a:t>
            </a:r>
            <a:r>
              <a:rPr lang="pt-BR" sz="2000" dirty="0">
                <a:latin typeface="Calibri" panose="020F0502020204030204" pitchFamily="34" charset="0"/>
              </a:rPr>
              <a:t> </a:t>
            </a:r>
            <a:r>
              <a:rPr lang="pt-BR" sz="2000" dirty="0" err="1">
                <a:latin typeface="Calibri" panose="020F0502020204030204" pitchFamily="34" charset="0"/>
              </a:rPr>
              <a:t>en</a:t>
            </a:r>
            <a:r>
              <a:rPr lang="pt-BR" sz="2000" dirty="0">
                <a:latin typeface="Calibri" panose="020F0502020204030204" pitchFamily="34" charset="0"/>
              </a:rPr>
              <a:t> </a:t>
            </a:r>
            <a:r>
              <a:rPr lang="pt-BR" sz="2000" dirty="0" err="1">
                <a:latin typeface="Calibri" panose="020F0502020204030204" pitchFamily="34" charset="0"/>
              </a:rPr>
              <a:t>Informatica</a:t>
            </a:r>
            <a:r>
              <a:rPr lang="pt-BR" sz="2000" dirty="0">
                <a:latin typeface="Calibri" panose="020F0502020204030204" pitchFamily="34" charset="0"/>
              </a:rPr>
              <a:t>, 1995.</a:t>
            </a: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Aplicação Cloud Indústria 40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>
                <a:solidFill>
                  <a:schemeClr val="bg1"/>
                </a:solidFill>
              </a:rPr>
              <a:t>M.Sc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9C895622-2963-024D-634E-EA58F5381D0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3202</TotalTime>
  <Words>1576</Words>
  <Application>Microsoft Office PowerPoint</Application>
  <PresentationFormat>Apresentação na tela (16:9)</PresentationFormat>
  <Paragraphs>215</Paragraphs>
  <Slides>23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8" baseType="lpstr">
      <vt:lpstr>Arial</vt:lpstr>
      <vt:lpstr>Calibri</vt:lpstr>
      <vt:lpstr>Times New Roman</vt:lpstr>
      <vt:lpstr>Wingdings</vt:lpstr>
      <vt:lpstr>Office Theme</vt:lpstr>
      <vt:lpstr>Aplicação Cloud Indústria 40 Python</vt:lpstr>
      <vt:lpstr> Aula 07  Outras Soluções em Python</vt:lpstr>
      <vt:lpstr>Outras Soluções em Python</vt:lpstr>
      <vt:lpstr>Comunidades Python</vt:lpstr>
      <vt:lpstr>Python no Windows</vt:lpstr>
      <vt:lpstr>Python no Linux Ubuntu/Debian</vt:lpstr>
      <vt:lpstr>Python no MacOS</vt:lpstr>
      <vt:lpstr>Python Jupyter - Data Science</vt:lpstr>
      <vt:lpstr>Áreas de Aplicações com Python</vt:lpstr>
      <vt:lpstr>Áreas de Aplicações com Python</vt:lpstr>
      <vt:lpstr>Áreas de Aplicações com Python</vt:lpstr>
      <vt:lpstr>Áreas de Aplicações com Python</vt:lpstr>
      <vt:lpstr>Áreas de Aplicações com Python</vt:lpstr>
      <vt:lpstr>Exemplo Python Financeiro</vt:lpstr>
      <vt:lpstr>Exemplo Python Financeiro</vt:lpstr>
      <vt:lpstr>Exemplo Python Financeiro</vt:lpstr>
      <vt:lpstr>Exemplo Python Financeiro</vt:lpstr>
      <vt:lpstr>Exemplo Python Financeiro</vt:lpstr>
      <vt:lpstr>Leitura Específica</vt:lpstr>
      <vt:lpstr>Aprenda+</vt:lpstr>
      <vt:lpstr>Dinâmica/Atividades</vt:lpstr>
      <vt:lpstr>Referências Bibliográficas</vt:lpstr>
      <vt:lpstr>Aplicação Cloud Indústria 40 Python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 Cardoso</cp:lastModifiedBy>
  <cp:revision>757</cp:revision>
  <dcterms:created xsi:type="dcterms:W3CDTF">2020-03-17T20:12:34Z</dcterms:created>
  <dcterms:modified xsi:type="dcterms:W3CDTF">2026-03-26T19:30:46Z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